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data" id="{02bdbeb4-0e7b-b405-93fe-08c72945d59d}">
          <p14:sldIdLst>
            <p14:sldId id="256"/>
            <p14:sldId id="257"/>
            <p14:sldId id="258"/>
            <p14:sldId id="259"/>
            <p14:sldId id="260"/>
          </p14:sldIdLst>
        </p14:section>
        <p14:section name="Governance and security" id="{956ce58c-722e-310a-4721-5d56eafeb34a}">
          <p14:sldIdLst>
            <p14:sldId id="261"/>
            <p14:sldId id="262"/>
            <p14:sldId id="263"/>
          </p14:sldIdLst>
        </p14:section>
        <p14:section name="Model" id="{a7ac118d-339d-a182-bc25-a9a087237459}">
          <p14:sldIdLst>
            <p14:sldId id="264"/>
            <p14:sldId id="265"/>
          </p14:sldIdLst>
        </p14:section>
        <p14:section name="Results" id="{571aafe6-2a03-54d3-f523-af3523838509}">
          <p14:sldIdLst>
            <p14:sldId id="266"/>
            <p14:sldId id="267"/>
            <p14:sldId id="268"/>
          </p14:sldIdLst>
        </p14:section>
        <p14:section name="Recommendations and demo" id="{438599e3-a769-1ef3-4aad-bc35c7306088}">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43B"/>
                </a:solidFill>
                <a:latin typeface="+mn-lt"/>
              </a:defRPr>
            </a:pPr>
            <a:r>
              <a:rPr sz="1400" b="0" i="0" u="none" strike="noStrike">
                <a:solidFill>
                  <a:srgbClr val="14243B"/>
                </a:solidFill>
                <a:latin typeface="+mn-lt"/>
              </a:rPr>
              <a:t>Share of functions longer than CodeBERT's 512-token limit</a:t>
            </a:r>
          </a:p>
        </c:rich>
      </c:tx>
      <c:layout/>
      <c:overlay val="0"/>
    </c:title>
    <c:autoTitleDeleted val="0"/>
    <c:plotArea>
      <c:layout/>
      <c:barChart>
        <c:barDir val="col"/>
        <c:grouping val="clustered"/>
        <c:varyColors val="0"/>
        <c:ser>
          <c:idx val="0"/>
          <c:order val="0"/>
          <c:tx>
            <c:strRef>
              <c:f>Sheet1!$B$1</c:f>
              <c:strCache>
                <c:ptCount val="1"/>
                <c:pt idx="0">
                  <c:v>longer than 512 tokens</c:v>
                </c:pt>
              </c:strCache>
            </c:strRef>
          </c:tx>
          <c:spPr>
            <a:solidFill>
              <a:srgbClr val="2A78D6"/>
            </a:solidFill>
            <a:effectLst/>
          </c:spPr>
          <c:invertIfNegative val="0"/>
          <c:dLbls>
            <c:numFmt formatCode="0%"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6E7782"/>
              </a:solidFill>
              <a:effectLst/>
            </c:spPr>
          </c:dPt>
          <c:dPt>
            <c:idx val="2"/>
            <c:invertIfNegative val="0"/>
            <c:bubble3D val="0"/>
            <c:spPr>
              <a:solidFill>
                <a:srgbClr val="B8C2CE"/>
              </a:solidFill>
              <a:effectLst/>
            </c:spPr>
          </c:dPt>
          <c:cat>
            <c:multiLvlStrRef>
              <c:f>Sheet1!$A$2:$A$4</c:f>
              <c:multiLvlStrCache>
                <c:ptCount val="3"/>
                <c:lvl>
                  <c:pt idx="0">
                    <c:v>P1 vulnerable</c:v>
                  </c:pt>
                  <c:pt idx="1">
                    <c:v>P2 fixed</c:v>
                  </c:pt>
                  <c:pt idx="2">
                    <c:v>P3 unchanged</c:v>
                  </c:pt>
                </c:lvl>
              </c:multiLvlStrCache>
            </c:multiLvlStrRef>
          </c:cat>
          <c:val>
            <c:numRef>
              <c:f>Sheet1!$B$2:$B$4</c:f>
              <c:numCache>
                <c:formatCode>General</c:formatCode>
                <c:ptCount val="3"/>
                <c:pt idx="0">
                  <c:v>0.47700000000000004</c:v>
                </c:pt>
                <c:pt idx="1">
                  <c:v>0.522</c:v>
                </c:pt>
                <c:pt idx="2">
                  <c:v>0.11199999999999999</c:v>
                </c:pt>
              </c:numCache>
            </c:numRef>
          </c:val>
        </c:ser>
        <c:dLbls>
          <c:numFmt formatCode="0%"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8C2CE"/>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9525" cap="flat">
              <a:solidFill>
                <a:srgbClr val="DFE4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E77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43B"/>
                </a:solidFill>
                <a:latin typeface="+mn-lt"/>
              </a:defRPr>
            </a:pPr>
            <a:r>
              <a:rPr sz="1400" b="0" i="0" u="none" strike="noStrike">
                <a:solidFill>
                  <a:srgbClr val="14243B"/>
                </a:solidFill>
                <a:latin typeface="+mn-lt"/>
              </a:rPr>
              <a:t>Validation ROC AUC after each epoch</a:t>
            </a:r>
          </a:p>
        </c:rich>
      </c:tx>
      <c:layout/>
      <c:overlay val="0"/>
    </c:title>
    <c:autoTitleDeleted val="0"/>
    <c:plotArea>
      <c:layout/>
      <c:lineChart>
        <c:varyColors val="0"/>
        <c:ser>
          <c:idx val="0"/>
          <c:order val="0"/>
          <c:tx>
            <c:strRef>
              <c:f>Sheet1!$B$1</c:f>
              <c:strCache>
                <c:ptCount val="1"/>
                <c:pt idx="0">
                  <c:v>class-weighted (primary)</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1B1F24"/>
                    </a:solidFill>
                    <a:latin typeface="+mn-lt"/>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Sheet1!$A$2:$A$5</c:f>
              <c:multiLvlStrCache>
                <c:ptCount val="4"/>
                <c:lvl>
                  <c:pt idx="0">
                    <c:v>epoch 1</c:v>
                  </c:pt>
                  <c:pt idx="1">
                    <c:v>epoch 2</c:v>
                  </c:pt>
                  <c:pt idx="2">
                    <c:v>epoch 3</c:v>
                  </c:pt>
                  <c:pt idx="3">
                    <c:v>epoch 4</c:v>
                  </c:pt>
                </c:lvl>
              </c:multiLvlStrCache>
            </c:multiLvlStrRef>
          </c:cat>
          <c:val>
            <c:numRef>
              <c:f>Sheet1!$B$2:$B$5</c:f>
              <c:numCache>
                <c:formatCode>General</c:formatCode>
                <c:ptCount val="4"/>
                <c:pt idx="0">
                  <c:v>0.8271</c:v>
                </c:pt>
                <c:pt idx="1">
                  <c:v>0.8471</c:v>
                </c:pt>
                <c:pt idx="2">
                  <c:v>0.8535</c:v>
                </c:pt>
                <c:pt idx="3">
                  <c:v>0.86</c:v>
                </c:pt>
              </c:numCache>
            </c:numRef>
          </c:val>
          <c:smooth val="0"/>
        </c:ser>
        <c:ser>
          <c:idx val="1"/>
          <c:order val="1"/>
          <c:tx>
            <c:strRef>
              <c:f>Sheet1!$C$1</c:f>
              <c:strCache>
                <c:ptCount val="1"/>
                <c:pt idx="0">
                  <c:v>no weights</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200" u="none">
                    <a:solidFill>
                      <a:srgbClr val="1B1F24"/>
                    </a:solidFill>
                    <a:latin typeface="+mn-lt"/>
                  </a:defRPr>
                </a:pPr>
              </a:p>
            </c:txPr>
            <c:showLegendKey val="0"/>
            <c:showVal val="0"/>
            <c:showCatName val="0"/>
            <c:showSerName val="0"/>
            <c:showPercent val="0"/>
            <c:showBubbleSize val="0"/>
            <c:showLeaderLines val="0"/>
          </c:dLbls>
          <c:marker>
            <c:symbol val="circle"/>
            <c:size val="8"/>
            <c:spPr>
              <a:solidFill>
                <a:srgbClr val="EB6834"/>
              </a:solidFill>
              <a:ln w="9525" cap="flat">
                <a:solidFill>
                  <a:srgbClr val="EB6834"/>
                </a:solidFill>
                <a:prstDash val="solid"/>
                <a:round/>
              </a:ln>
              <a:effectLst/>
            </c:spPr>
          </c:marker>
          <c:cat>
            <c:multiLvlStrRef>
              <c:f>Sheet1!$A$2:$A$5</c:f>
              <c:multiLvlStrCache>
                <c:ptCount val="4"/>
                <c:lvl>
                  <c:pt idx="0">
                    <c:v>epoch 1</c:v>
                  </c:pt>
                  <c:pt idx="1">
                    <c:v>epoch 2</c:v>
                  </c:pt>
                  <c:pt idx="2">
                    <c:v>epoch 3</c:v>
                  </c:pt>
                  <c:pt idx="3">
                    <c:v>epoch 4</c:v>
                  </c:pt>
                </c:lvl>
              </c:multiLvlStrCache>
            </c:multiLvlStrRef>
          </c:cat>
          <c:val>
            <c:numRef>
              <c:f>Sheet1!$C$2:$C$5</c:f>
              <c:numCache>
                <c:formatCode>General</c:formatCode>
                <c:ptCount val="4"/>
                <c:pt idx="0">
                  <c:v>0.8366</c:v>
                </c:pt>
                <c:pt idx="1">
                  <c:v>0.8686</c:v>
                </c:pt>
                <c:pt idx="2">
                  <c:v>0.8643</c:v>
                </c:pt>
                <c:pt idx="3">
                  <c:v>0.8721</c:v>
                </c:pt>
              </c:numCache>
            </c:numRef>
          </c:val>
          <c:smooth val="0"/>
        </c:ser>
        <c:ser>
          <c:idx val="2"/>
          <c:order val="2"/>
          <c:tx>
            <c:strRef>
              <c:f>Sheet1!$D$1</c:f>
              <c:strCache>
                <c:ptCount val="1"/>
                <c:pt idx="0">
                  <c:v>square-root weights</c:v>
                </c:pt>
              </c:strCache>
            </c:strRef>
          </c:tx>
          <c:spPr>
            <a:solidFill>
              <a:srgbClr val="86B6EF"/>
            </a:solidFill>
            <a:ln w="31750" cap="flat">
              <a:solidFill>
                <a:srgbClr val="86B6EF"/>
              </a:solidFill>
              <a:prstDash val="solid"/>
              <a:round/>
            </a:ln>
            <a:effectLst/>
          </c:spPr>
          <c:invertIfNegative val="0"/>
          <c:dLbls>
            <c:numFmt formatCode="#,##0" sourceLinked="0"/>
            <c:txPr>
              <a:bodyPr/>
              <a:lstStyle/>
              <a:p>
                <a:pPr>
                  <a:defRPr b="0" i="0" strike="noStrike" sz="1200" u="none">
                    <a:solidFill>
                      <a:srgbClr val="1B1F24"/>
                    </a:solidFill>
                    <a:latin typeface="+mn-lt"/>
                  </a:defRPr>
                </a:pPr>
              </a:p>
            </c:txPr>
            <c:showLegendKey val="0"/>
            <c:showVal val="0"/>
            <c:showCatName val="0"/>
            <c:showSerName val="0"/>
            <c:showPercent val="0"/>
            <c:showBubbleSize val="0"/>
            <c:showLeaderLines val="0"/>
          </c:dLbls>
          <c:marker>
            <c:symbol val="circle"/>
            <c:size val="8"/>
            <c:spPr>
              <a:solidFill>
                <a:srgbClr val="86B6EF"/>
              </a:solidFill>
              <a:ln w="9525" cap="flat">
                <a:solidFill>
                  <a:srgbClr val="86B6EF"/>
                </a:solidFill>
                <a:prstDash val="solid"/>
                <a:round/>
              </a:ln>
              <a:effectLst/>
            </c:spPr>
          </c:marker>
          <c:cat>
            <c:multiLvlStrRef>
              <c:f>Sheet1!$A$2:$A$5</c:f>
              <c:multiLvlStrCache>
                <c:ptCount val="4"/>
                <c:lvl>
                  <c:pt idx="0">
                    <c:v>epoch 1</c:v>
                  </c:pt>
                  <c:pt idx="1">
                    <c:v>epoch 2</c:v>
                  </c:pt>
                  <c:pt idx="2">
                    <c:v>epoch 3</c:v>
                  </c:pt>
                  <c:pt idx="3">
                    <c:v>epoch 4</c:v>
                  </c:pt>
                </c:lvl>
              </c:multiLvlStrCache>
            </c:multiLvlStrRef>
          </c:cat>
          <c:val>
            <c:numRef>
              <c:f>Sheet1!$D$2:$D$5</c:f>
              <c:numCache>
                <c:formatCode>General</c:formatCode>
                <c:ptCount val="4"/>
                <c:pt idx="0">
                  <c:v>0.8326</c:v>
                </c:pt>
                <c:pt idx="1">
                  <c:v>0.8456</c:v>
                </c:pt>
                <c:pt idx="2">
                  <c:v>0.8476</c:v>
                </c:pt>
                <c:pt idx="3">
                  <c:v>0.856</c:v>
                </c:pt>
              </c:numCache>
            </c:numRef>
          </c:val>
          <c:smooth val="0"/>
        </c:ser>
        <c:dLbls>
          <c:numFmt formatCode="#,##0" sourceLinked="0"/>
          <c:txPr>
            <a:bodyPr/>
            <a:lstStyle/>
            <a:p>
              <a:pPr>
                <a:defRPr b="0" i="0" strike="noStrike" sz="1200" u="none">
                  <a:solidFill>
                    <a:srgbClr val="1B1F2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8C2CE"/>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0.88"/>
          <c:min val="0.82"/>
        </c:scaling>
        <c:delete val="0"/>
        <c:axPos val="l"/>
        <c:majorGridlines>
          <c:spPr>
            <a:ln w="9525" cap="flat">
              <a:solidFill>
                <a:srgbClr val="DFE4EA"/>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6E77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43B"/>
                </a:solidFill>
                <a:latin typeface="+mn-lt"/>
              </a:defRPr>
            </a:pPr>
            <a:r>
              <a:rPr sz="1400" b="0" i="0" u="none" strike="noStrike">
                <a:solidFill>
                  <a:srgbClr val="14243B"/>
                </a:solidFill>
                <a:latin typeface="+mn-lt"/>
              </a:rPr>
              <a:t>Test ROC AUC, X1 with P3 (violet = reported by Shestov et al.)</a:t>
            </a:r>
          </a:p>
        </c:rich>
      </c:tx>
      <c:layout/>
      <c:overlay val="0"/>
    </c:title>
    <c:autoTitleDeleted val="0"/>
    <c:plotArea>
      <c:layout/>
      <c:barChart>
        <c:barDir val="bar"/>
        <c:grouping val="clustered"/>
        <c:varyColors val="0"/>
        <c:ser>
          <c:idx val="0"/>
          <c:order val="0"/>
          <c:tx>
            <c:strRef>
              <c:f>Sheet1!$B$1</c:f>
              <c:strCache>
                <c:ptCount val="1"/>
                <c:pt idx="0">
                  <c:v>ROC AUC</c:v>
                </c:pt>
              </c:strCache>
            </c:strRef>
          </c:tx>
          <c:spPr>
            <a:solidFill>
              <a:srgbClr val="6250D6"/>
            </a:solidFill>
            <a:effectLst/>
          </c:spPr>
          <c:invertIfNegative val="0"/>
          <c:dLbls>
            <c:numFmt formatCode="0.000"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6250D6"/>
              </a:solidFill>
              <a:effectLst/>
            </c:spPr>
          </c:dPt>
          <c:dPt>
            <c:idx val="1"/>
            <c:invertIfNegative val="0"/>
            <c:bubble3D val="0"/>
            <c:spPr>
              <a:solidFill>
                <a:srgbClr val="6250D6"/>
              </a:solidFill>
              <a:effectLst/>
            </c:spPr>
          </c:dPt>
          <c:dPt>
            <c:idx val="2"/>
            <c:invertIfNegative val="0"/>
            <c:bubble3D val="0"/>
            <c:spPr>
              <a:solidFill>
                <a:srgbClr val="6250D6"/>
              </a:solidFill>
              <a:effectLst/>
            </c:spPr>
          </c:dPt>
          <c:dPt>
            <c:idx val="3"/>
            <c:invertIfNegative val="0"/>
            <c:bubble3D val="0"/>
            <c:spPr>
              <a:solidFill>
                <a:srgbClr val="B8C2CE"/>
              </a:solidFill>
              <a:effectLst/>
            </c:spPr>
          </c:dPt>
          <c:dPt>
            <c:idx val="4"/>
            <c:invertIfNegative val="0"/>
            <c:bubble3D val="0"/>
            <c:spPr>
              <a:solidFill>
                <a:srgbClr val="6E7782"/>
              </a:solidFill>
              <a:effectLst/>
            </c:spPr>
          </c:dPt>
          <c:dPt>
            <c:idx val="5"/>
            <c:invertIfNegative val="0"/>
            <c:bubble3D val="0"/>
            <c:spPr>
              <a:solidFill>
                <a:srgbClr val="1BAF7A"/>
              </a:solidFill>
              <a:effectLst/>
            </c:spPr>
          </c:dPt>
          <c:dPt>
            <c:idx val="6"/>
            <c:invertIfNegative val="0"/>
            <c:bubble3D val="0"/>
            <c:spPr>
              <a:solidFill>
                <a:srgbClr val="86B6EF"/>
              </a:solidFill>
              <a:effectLst/>
            </c:spPr>
          </c:dPt>
          <c:dPt>
            <c:idx val="7"/>
            <c:invertIfNegative val="0"/>
            <c:bubble3D val="0"/>
            <c:spPr>
              <a:solidFill>
                <a:srgbClr val="EB6834"/>
              </a:solidFill>
              <a:effectLst/>
            </c:spPr>
          </c:dPt>
          <c:dPt>
            <c:idx val="8"/>
            <c:invertIfNegative val="0"/>
            <c:bubble3D val="0"/>
            <c:spPr>
              <a:solidFill>
                <a:srgbClr val="2A78D6"/>
              </a:solidFill>
              <a:effectLst/>
            </c:spPr>
          </c:dPt>
          <c:cat>
            <c:multiLvlStrRef>
              <c:f>Sheet1!$A$2:$A$10</c:f>
              <c:multiLvlStrCache>
                <c:ptCount val="9"/>
                <c:lvl>
                  <c:pt idx="0">
                    <c:v>WizardCoder + focal loss + sample weights (paper)</c:v>
                  </c:pt>
                  <c:pt idx="1">
                    <c:v>WizardCoder 13B (paper)</c:v>
                  </c:pt>
                  <c:pt idx="2">
                    <c:v>ContraBERT (paper)</c:v>
                  </c:pt>
                  <c:pt idx="3">
                    <c:v>Code length only</c:v>
                  </c:pt>
                  <c:pt idx="4">
                    <c:v>TF-IDF + LR</c:v>
                  </c:pt>
                  <c:pt idx="5">
                    <c:v>Frozen CodeBERT + LR</c:v>
                  </c:pt>
                  <c:pt idx="6">
                    <c:v>CodeBERT, square-root weights</c:v>
                  </c:pt>
                  <c:pt idx="7">
                    <c:v>CodeBERT, no weights</c:v>
                  </c:pt>
                  <c:pt idx="8">
                    <c:v>CodeBERT, class-weighted</c:v>
                  </c:pt>
                </c:lvl>
              </c:multiLvlStrCache>
            </c:multiLvlStrRef>
          </c:cat>
          <c:val>
            <c:numRef>
              <c:f>Sheet1!$B$2:$B$10</c:f>
              <c:numCache>
                <c:formatCode>General</c:formatCode>
                <c:ptCount val="9"/>
                <c:pt idx="0">
                  <c:v>0.878</c:v>
                </c:pt>
                <c:pt idx="1">
                  <c:v>0.86</c:v>
                </c:pt>
                <c:pt idx="2">
                  <c:v>0.85</c:v>
                </c:pt>
                <c:pt idx="3">
                  <c:v>0.8074841855107515</c:v>
                </c:pt>
                <c:pt idx="4">
                  <c:v>0.8713534830144923</c:v>
                </c:pt>
                <c:pt idx="5">
                  <c:v>0.819266123508004</c:v>
                </c:pt>
                <c:pt idx="6">
                  <c:v>0.8512108177612118</c:v>
                </c:pt>
                <c:pt idx="7">
                  <c:v>0.8624770866898065</c:v>
                </c:pt>
                <c:pt idx="8">
                  <c:v>0.8494045409492903</c:v>
                </c:pt>
              </c:numCache>
            </c:numRef>
          </c:val>
        </c:ser>
        <c:dLbls>
          <c:numFmt formatCode="0.000"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8C2CE"/>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b"/>
        <c:majorGridlines>
          <c:spPr>
            <a:ln w="9525" cap="flat">
              <a:solidFill>
                <a:srgbClr val="DFE4EA"/>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6E77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43B"/>
                </a:solidFill>
                <a:latin typeface="+mn-lt"/>
              </a:defRPr>
            </a:pPr>
            <a:r>
              <a:rPr sz="1400" b="0" i="0" u="none" strike="noStrike">
                <a:solidFill>
                  <a:srgbClr val="14243B"/>
                </a:solidFill>
                <a:latin typeface="+mn-lt"/>
              </a:rPr>
              <a:t>Share of test functions the primary model flags</a:t>
            </a:r>
          </a:p>
        </c:rich>
      </c:tx>
      <c:layout/>
      <c:overlay val="0"/>
    </c:title>
    <c:autoTitleDeleted val="0"/>
    <c:plotArea>
      <c:layout/>
      <c:barChart>
        <c:barDir val="col"/>
        <c:grouping val="clustered"/>
        <c:varyColors val="0"/>
        <c:ser>
          <c:idx val="0"/>
          <c:order val="0"/>
          <c:tx>
            <c:strRef>
              <c:f>Sheet1!$B$1</c:f>
              <c:strCache>
                <c:ptCount val="1"/>
                <c:pt idx="0">
                  <c:v>flagged</c:v>
                </c:pt>
              </c:strCache>
            </c:strRef>
          </c:tx>
          <c:spPr>
            <a:solidFill>
              <a:srgbClr val="2A78D6"/>
            </a:solidFill>
            <a:effectLst/>
          </c:spPr>
          <c:invertIfNegative val="0"/>
          <c:dLbls>
            <c:numFmt formatCode="0%"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6E7782"/>
              </a:solidFill>
              <a:effectLst/>
            </c:spPr>
          </c:dPt>
          <c:dPt>
            <c:idx val="2"/>
            <c:invertIfNegative val="0"/>
            <c:bubble3D val="0"/>
            <c:spPr>
              <a:solidFill>
                <a:srgbClr val="B8C2CE"/>
              </a:solidFill>
              <a:effectLst/>
            </c:spPr>
          </c:dPt>
          <c:cat>
            <c:multiLvlStrRef>
              <c:f>Sheet1!$A$2:$A$4</c:f>
              <c:multiLvlStrCache>
                <c:ptCount val="3"/>
                <c:lvl>
                  <c:pt idx="0">
                    <c:v>P1 vulnerable</c:v>
                  </c:pt>
                  <c:pt idx="1">
                    <c:v>P2 fixed version</c:v>
                  </c:pt>
                  <c:pt idx="2">
                    <c:v>P3 unchanged</c:v>
                  </c:pt>
                </c:lvl>
              </c:multiLvlStrCache>
            </c:multiLvlStrRef>
          </c:cat>
          <c:val>
            <c:numRef>
              <c:f>Sheet1!$B$2:$B$4</c:f>
              <c:numCache>
                <c:formatCode>General</c:formatCode>
                <c:ptCount val="3"/>
                <c:pt idx="0">
                  <c:v>0.5254237288135594</c:v>
                </c:pt>
                <c:pt idx="1">
                  <c:v>0.5454545454545454</c:v>
                </c:pt>
                <c:pt idx="2">
                  <c:v>0.07242339832869081</c:v>
                </c:pt>
              </c:numCache>
            </c:numRef>
          </c:val>
        </c:ser>
        <c:dLbls>
          <c:numFmt formatCode="0%" sourceLinked="0"/>
          <c:txPr>
            <a:bodyPr/>
            <a:lstStyle/>
            <a:p>
              <a:pPr>
                <a:defRPr b="0" i="0" strike="noStrike" sz="1200" u="none">
                  <a:solidFill>
                    <a:srgbClr val="1B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8C2CE"/>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9525" cap="flat">
              <a:solidFill>
                <a:srgbClr val="DFE4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E77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43B"/>
                </a:solidFill>
                <a:latin typeface="+mn-lt"/>
              </a:defRPr>
            </a:pPr>
            <a:r>
              <a:rPr sz="1400" b="0" i="0" u="none" strike="noStrike">
                <a:solidFill>
                  <a:srgbClr val="14243B"/>
                </a:solidFill>
                <a:latin typeface="+mn-lt"/>
              </a:rPr>
              <a:t>Vulnerable functions found when reviewing the top-scored code</a:t>
            </a:r>
          </a:p>
        </c:rich>
      </c:tx>
      <c:layout/>
      <c:overlay val="0"/>
    </c:title>
    <c:autoTitleDeleted val="0"/>
    <c:plotArea>
      <c:layout/>
      <c:barChart>
        <c:barDir val="col"/>
        <c:grouping val="clustered"/>
        <c:varyColors val="0"/>
        <c:ser>
          <c:idx val="0"/>
          <c:order val="0"/>
          <c:tx>
            <c:strRef>
              <c:f>Sheet1!$B$1</c:f>
              <c:strCache>
                <c:ptCount val="1"/>
                <c:pt idx="0">
                  <c:v>primary model</c:v>
                </c:pt>
              </c:strCache>
            </c:strRef>
          </c:tx>
          <c:spPr>
            <a:solidFill>
              <a:srgbClr val="2A78D6"/>
            </a:solidFill>
            <a:effectLst/>
          </c:spPr>
          <c:invertIfNegative val="0"/>
          <c:dLbls>
            <c:numFmt formatCode="#,##0" sourceLinked="0"/>
            <c:txPr>
              <a:bodyPr/>
              <a:lstStyle/>
              <a:p>
                <a:pPr>
                  <a:defRPr b="0" i="0" strike="noStrike" sz="1200" u="none">
                    <a:solidFill>
                      <a:srgbClr val="1B1F24"/>
                    </a:solidFill>
                    <a:latin typeface="+mn-lt"/>
                  </a:defRPr>
                </a:pPr>
              </a:p>
            </c:txPr>
            <c:showLegendKey val="0"/>
            <c:showVal val="0"/>
            <c:showCatName val="0"/>
            <c:showSerName val="0"/>
            <c:showPercent val="0"/>
            <c:showBubbleSize val="0"/>
            <c:showLeaderLines val="0"/>
          </c:dLbls>
          <c:cat>
            <c:multiLvlStrRef>
              <c:f>Sheet1!$A$2:$A$6</c:f>
              <c:multiLvlStrCache>
                <c:ptCount val="5"/>
                <c:lvl>
                  <c:pt idx="0">
                    <c:v>top 1%</c:v>
                  </c:pt>
                  <c:pt idx="1">
                    <c:v>top 2%</c:v>
                  </c:pt>
                  <c:pt idx="2">
                    <c:v>top 5%</c:v>
                  </c:pt>
                  <c:pt idx="3">
                    <c:v>top 10%</c:v>
                  </c:pt>
                  <c:pt idx="4">
                    <c:v>top 20%</c:v>
                  </c:pt>
                </c:lvl>
              </c:multiLvlStrCache>
            </c:multiLvlStrRef>
          </c:cat>
          <c:val>
            <c:numRef>
              <c:f>Sheet1!$B$2:$B$6</c:f>
              <c:numCache>
                <c:formatCode>General</c:formatCode>
                <c:ptCount val="5"/>
                <c:pt idx="0">
                  <c:v>0.1016949152542373</c:v>
                </c:pt>
                <c:pt idx="1">
                  <c:v>0.16101694915254236</c:v>
                </c:pt>
                <c:pt idx="2">
                  <c:v>0.3305084745762712</c:v>
                </c:pt>
                <c:pt idx="3">
                  <c:v>0.5338983050847458</c:v>
                </c:pt>
                <c:pt idx="4">
                  <c:v>0.7203389830508474</c:v>
                </c:pt>
              </c:numCache>
            </c:numRef>
          </c:val>
        </c:ser>
        <c:ser>
          <c:idx val="1"/>
          <c:order val="1"/>
          <c:tx>
            <c:strRef>
              <c:f>Sheet1!$C$1</c:f>
              <c:strCache>
                <c:ptCount val="1"/>
                <c:pt idx="0">
                  <c:v>code length only</c:v>
                </c:pt>
              </c:strCache>
            </c:strRef>
          </c:tx>
          <c:spPr>
            <a:solidFill>
              <a:srgbClr val="B8C2CE"/>
            </a:solidFill>
            <a:effectLst/>
          </c:spPr>
          <c:invertIfNegative val="0"/>
          <c:dLbls>
            <c:numFmt formatCode="#,##0" sourceLinked="0"/>
            <c:txPr>
              <a:bodyPr/>
              <a:lstStyle/>
              <a:p>
                <a:pPr>
                  <a:defRPr b="0" i="0" strike="noStrike" sz="1200" u="none">
                    <a:solidFill>
                      <a:srgbClr val="1B1F24"/>
                    </a:solidFill>
                    <a:latin typeface="+mn-lt"/>
                  </a:defRPr>
                </a:pPr>
              </a:p>
            </c:txPr>
            <c:showLegendKey val="0"/>
            <c:showVal val="0"/>
            <c:showCatName val="0"/>
            <c:showSerName val="0"/>
            <c:showPercent val="0"/>
            <c:showBubbleSize val="0"/>
            <c:showLeaderLines val="0"/>
          </c:dLbls>
          <c:cat>
            <c:multiLvlStrRef>
              <c:f>Sheet1!$A$2:$A$6</c:f>
              <c:multiLvlStrCache>
                <c:ptCount val="5"/>
                <c:lvl>
                  <c:pt idx="0">
                    <c:v>top 1%</c:v>
                  </c:pt>
                  <c:pt idx="1">
                    <c:v>top 2%</c:v>
                  </c:pt>
                  <c:pt idx="2">
                    <c:v>top 5%</c:v>
                  </c:pt>
                  <c:pt idx="3">
                    <c:v>top 10%</c:v>
                  </c:pt>
                  <c:pt idx="4">
                    <c:v>top 20%</c:v>
                  </c:pt>
                </c:lvl>
              </c:multiLvlStrCache>
            </c:multiLvlStrRef>
          </c:cat>
          <c:val>
            <c:numRef>
              <c:f>Sheet1!$C$2:$C$6</c:f>
              <c:numCache>
                <c:formatCode>General</c:formatCode>
                <c:ptCount val="5"/>
                <c:pt idx="0">
                  <c:v>0.11016949152542373</c:v>
                </c:pt>
                <c:pt idx="1">
                  <c:v>0.17796610169491525</c:v>
                </c:pt>
                <c:pt idx="2">
                  <c:v>0.2627118644067797</c:v>
                </c:pt>
                <c:pt idx="3">
                  <c:v>0.3898305084745763</c:v>
                </c:pt>
                <c:pt idx="4">
                  <c:v>0.6271186440677966</c:v>
                </c:pt>
              </c:numCache>
            </c:numRef>
          </c:val>
        </c:ser>
        <c:ser>
          <c:idx val="2"/>
          <c:order val="2"/>
          <c:tx>
            <c:strRef>
              <c:f>Sheet1!$D$1</c:f>
              <c:strCache>
                <c:ptCount val="1"/>
                <c:pt idx="0">
                  <c:v>random order</c:v>
                </c:pt>
              </c:strCache>
            </c:strRef>
          </c:tx>
          <c:spPr>
            <a:solidFill>
              <a:srgbClr val="D5DCE4"/>
            </a:solidFill>
            <a:effectLst/>
          </c:spPr>
          <c:invertIfNegative val="0"/>
          <c:dLbls>
            <c:numFmt formatCode="#,##0" sourceLinked="0"/>
            <c:txPr>
              <a:bodyPr/>
              <a:lstStyle/>
              <a:p>
                <a:pPr>
                  <a:defRPr b="0" i="0" strike="noStrike" sz="1200" u="none">
                    <a:solidFill>
                      <a:srgbClr val="1B1F24"/>
                    </a:solidFill>
                    <a:latin typeface="+mn-lt"/>
                  </a:defRPr>
                </a:pPr>
              </a:p>
            </c:txPr>
            <c:showLegendKey val="0"/>
            <c:showVal val="0"/>
            <c:showCatName val="0"/>
            <c:showSerName val="0"/>
            <c:showPercent val="0"/>
            <c:showBubbleSize val="0"/>
            <c:showLeaderLines val="0"/>
          </c:dLbls>
          <c:cat>
            <c:multiLvlStrRef>
              <c:f>Sheet1!$A$2:$A$6</c:f>
              <c:multiLvlStrCache>
                <c:ptCount val="5"/>
                <c:lvl>
                  <c:pt idx="0">
                    <c:v>top 1%</c:v>
                  </c:pt>
                  <c:pt idx="1">
                    <c:v>top 2%</c:v>
                  </c:pt>
                  <c:pt idx="2">
                    <c:v>top 5%</c:v>
                  </c:pt>
                  <c:pt idx="3">
                    <c:v>top 10%</c:v>
                  </c:pt>
                  <c:pt idx="4">
                    <c:v>top 20%</c:v>
                  </c:pt>
                </c:lvl>
              </c:multiLvlStrCache>
            </c:multiLvlStrRef>
          </c:cat>
          <c:val>
            <c:numRef>
              <c:f>Sheet1!$D$2:$D$6</c:f>
              <c:numCache>
                <c:formatCode>General</c:formatCode>
                <c:ptCount val="5"/>
                <c:pt idx="0">
                  <c:v>0.01</c:v>
                </c:pt>
                <c:pt idx="1">
                  <c:v>0.02</c:v>
                </c:pt>
                <c:pt idx="2">
                  <c:v>0.05</c:v>
                </c:pt>
                <c:pt idx="3">
                  <c:v>0.1</c:v>
                </c:pt>
                <c:pt idx="4">
                  <c:v>0.2</c:v>
                </c:pt>
              </c:numCache>
            </c:numRef>
          </c:val>
        </c:ser>
        <c:dLbls>
          <c:numFmt formatCode="#,##0" sourceLinked="0"/>
          <c:txPr>
            <a:bodyPr/>
            <a:lstStyle/>
            <a:p>
              <a:pPr>
                <a:defRPr b="0" i="0" strike="noStrike" sz="1200" u="none">
                  <a:solidFill>
                    <a:srgbClr val="1B1F24"/>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8C2CE"/>
            </a:solidFill>
            <a:prstDash val="solid"/>
            <a:round/>
          </a:ln>
        </c:spPr>
        <c:txPr>
          <a:bodyPr/>
          <a:lstStyle/>
          <a:p>
            <a:pPr>
              <a:defRPr sz="12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FE4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E77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name is Bekzat Saulebay. I did the Group 9 topic on my own: finding vulnerable Java code with CodeBERT, as a partial reproduction of the paper by Shestov and co-authors.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paper's X1 dataset: about twenty-three thousand Java functions, and only six hundred forty-four are vulnerable, about one in thirty-five. So a model that never flags anything is already right ninety-seven percent of the time, and the ninety-three percent target is met before any training. My question: the paper says class weighting did not help its big model. Does it help CodeBERT?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managed the data through its whole lifecycle. Every source is pinned to an exact version and checked against its hash on every run. What evaluation finds becomes a new quality rule. And the value chain ends with a decision: which code a security team reads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ER model has nine entities, and the warehouse has exactly these nine tables, with keys enforced. The label is stored once, because the status already decides it. Training reads one SQL view, so a quarantined row can never reach the model, and the results go back into the same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looks clean at first. The problems are in the meaning. Forty-one rows have conflicting labels, so they wait in quarantine. Thirty-three test and validation rows were copies of training code, and I removed them. And half of the vulnerable functions are longer than CodeBERT's limit of five hundred twelve tokens, so the model never sees their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three pinned sources, the pipeline, the warehouse, the models, and the results flow back. Under every step there are five controls: pinned versions, hashes, least privilege, an audit log, and training without network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finding surprised me. My training script started talking to the Hugging Face Hub, although the model was already on disk. The transformers library does this in the background when it loads an old pickle file. For a company with private code that is a real risk, so I switched it off and load everything from the local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own the source data, and it has no licence, so I use it for study only and do not redistribute it. My rules: the model is a triage aid, never a gate. No analysis of people, because a commit id leads to its author, which is personal data under GDPR and the Kazakh law. And labels are never edited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fine-tuned CodeBERT, a model with a hundred twenty-five million parameters. With plain cross-entropy, a model can keep the loss low by always saying 'not vulnerable'. Class weights are meant to fix that: here one vulnerable function counts like 32 safe ones. I also trained without weights and with milder weights, to measure the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ROC AUC went up almost every epoch, and the model without weights was ahead from the start. One run takes about 49 minutes on my laptop's GPU. The alternative, frozen CodeBERT, takes 3 minutes but is clearly worse. TF-IDF takes 2 seconds on a normal processor and matches CodeBERT.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test split the model reaches a ROC AUC of 0.85 and an F1 of 0.22, the same as the paper's CodeBERT-style baseline. About the accuracy target: with the paper's threshold I get 90.5%. At threshold 0.5 I reach 93.1%, but find fewer vulnerable functions. Flagging nothing gives ninety-seven.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does class weighting help? No. Without weights the same model ranks just as well, and its F1 is clearly higher, 28 against 22. The weights only push the scores up, so that 0.5 works as a threshold. But the threshold is chosen on validation anyway, so they buy nothing. The paper found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model flags about half of the vulnerable functions, but also half of their fixed versions, and only 7 percent of untouched code. So it learned to spot code that a fix touched, not the bug itself. Still, reading the top ten percent of functions finds about half of the vulnerable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recommendations: use the model to order the review queue, never to approve code. Measure recall for the review budget, not accuracy. Tune the threshold, not the loss. And fix the data before buying a bigger model: here even TF-IDF ranked as well as CodeBERT.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and a short demo. The demo checks the model's hash, then scores a textbook SQL injection and its fix. Both get almost zero, because the model never learned what a vulnerability is. That is the main lesson of this project. Thank you,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5953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474720"/>
            <a:ext cx="859536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ph idx="102" type="body" hasCustomPrompt="1"/>
          </p:nvPr>
        </p:nvSpPr>
        <p:spPr>
          <a:xfrm>
            <a:off x="548640" y="5074920"/>
            <a:ext cx="10515600" cy="914400"/>
          </a:xfrm>
          <a:prstGeom prst="rect">
            <a:avLst/>
          </a:prstGeom>
          <a:noFill/>
          <a:ln/>
        </p:spPr>
        <p:txBody>
          <a:bodyPr wrap="square" rtlCol="0"/>
          <a:lstStyle>
            <a:lvl1pPr algn="l" indent="0" marL="0">
              <a:buNone/>
              <a:defRPr lang="en-US" sz="1500" dirty="0">
                <a:solidFill>
                  <a:schemeClr val="bg2"/>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100" dirty="0">
                <a:solidFill>
                  <a:schemeClr val="accent4"/>
                </a:solidFill>
              </a:rPr>
              <a:t>Bekzat Saulebay · Java vulnerability detection with CodeBERT · Midterm 2026</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C2C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595360" cy="1737360"/>
          </a:xfrm>
          <a:prstGeom prst="rect">
            <a:avLst/>
          </a:prstGeom>
          <a:noFill/>
          <a:ln/>
        </p:spPr>
        <p:txBody>
          <a:bodyPr wrap="square" lIns="0" tIns="0" rIns="0" bIns="0" rtlCol="0" anchor="b"/>
          <a:lstStyle/>
          <a:p>
            <a:pPr algn="l" indent="0" marL="0">
              <a:buNone/>
            </a:pPr>
            <a:r>
              <a:rPr lang="en-US" sz="4400" b="1" dirty="0">
                <a:solidFill>
                  <a:schemeClr val="bg1"/>
                </a:solidFill>
              </a:rPr>
              <a:t>Finding vulnerable Java code with CodeBERT</a:t>
            </a:r>
            <a:endParaRPr lang="en-US" sz="4400" dirty="0"/>
          </a:p>
        </p:txBody>
      </p:sp>
      <p:sp>
        <p:nvSpPr>
          <p:cNvPr id="3" name="Text 0"/>
          <p:cNvSpPr/>
          <p:nvPr>
            <p:ph idx="101" type="body" hasCustomPrompt="1"/>
          </p:nvPr>
        </p:nvSpPr>
        <p:spPr>
          <a:xfrm>
            <a:off x="548640" y="3474720"/>
            <a:ext cx="8595360" cy="914400"/>
          </a:xfrm>
          <a:prstGeom prst="rect">
            <a:avLst/>
          </a:prstGeom>
          <a:noFill/>
          <a:ln/>
        </p:spPr>
        <p:txBody>
          <a:bodyPr wrap="square" lIns="0" tIns="0" rIns="0" bIns="0" rtlCol="0" anchor="t"/>
          <a:lstStyle/>
          <a:p>
            <a:pPr algn="l" indent="0" marL="0">
              <a:buNone/>
            </a:pPr>
            <a:r>
              <a:rPr lang="en-US" sz="2000" dirty="0">
                <a:solidFill>
                  <a:schemeClr val="bg2"/>
                </a:solidFill>
              </a:rPr>
              <a:t>Class-weighted cross-entropy on imbalanced data: a partial reproduction of Shestov et al. (2025)</a:t>
            </a:r>
            <a:endParaRPr lang="en-US" sz="2000" dirty="0"/>
          </a:p>
        </p:txBody>
      </p:sp>
      <p:sp>
        <p:nvSpPr>
          <p:cNvPr id="4" name="Text 0"/>
          <p:cNvSpPr/>
          <p:nvPr>
            <p:ph idx="102" type="body" hasCustomPrompt="1"/>
          </p:nvPr>
        </p:nvSpPr>
        <p:spPr>
          <a:xfrm>
            <a:off x="548640" y="5074920"/>
            <a:ext cx="10515600" cy="914400"/>
          </a:xfrm>
          <a:prstGeom prst="rect">
            <a:avLst/>
          </a:prstGeom>
          <a:noFill/>
          <a:ln/>
        </p:spPr>
        <p:txBody>
          <a:bodyPr wrap="square" lIns="0" tIns="0" rIns="0" bIns="0" rtlCol="0" anchor="t"/>
          <a:lstStyle/>
          <a:p>
            <a:pPr algn="l" indent="0" marL="0">
              <a:buNone/>
            </a:pPr>
            <a:r>
              <a:rPr lang="en-US" sz="1500" b="1" dirty="0">
                <a:solidFill>
                  <a:schemeClr val="bg2"/>
                </a:solidFill>
              </a:rPr>
              <a:t>Bekzat Saulebay (25MD0294) · Group 9 topic, individual work</a:t>
            </a:r>
            <a:endParaRPr lang="en-US" sz="1500" dirty="0"/>
          </a:p>
          <a:p>
            <a:pPr algn="l" indent="0" marL="0">
              <a:buNone/>
            </a:pPr>
            <a:r>
              <a:rPr lang="en-US" sz="1500" dirty="0">
                <a:solidFill>
                  <a:schemeClr val="bg2"/>
                </a:solidFill>
              </a:rPr>
              <a:t>MSITM 5134 Management of Organizational Data · KBTU · Midterm 2026</a:t>
            </a:r>
            <a:endParaRPr lang="en-US" sz="1500" dirty="0"/>
          </a:p>
        </p:txBody>
      </p:sp>
      <p:sp>
        <p:nvSpPr>
          <p:cNvPr id="5" name="title-circle"/>
          <p:cNvSpPr/>
          <p:nvPr/>
        </p:nvSpPr>
        <p:spPr>
          <a:xfrm>
            <a:off x="9646920" y="1783080"/>
            <a:ext cx="1920240" cy="1920240"/>
          </a:xfrm>
          <a:prstGeom prst="ellipse">
            <a:avLst/>
          </a:prstGeom>
          <a:solidFill>
            <a:schemeClr val="accent1"/>
          </a:solidFill>
          <a:ln w="12700">
            <a:solidFill>
              <a:schemeClr val="accent1"/>
            </a:solidFill>
            <a:prstDash val="solid"/>
          </a:ln>
        </p:spPr>
      </p:sp>
      <p:pic>
        <p:nvPicPr>
          <p:cNvPr id="6" name="title-icon" descr="preencoded.png">    </p:cNvPr>
          <p:cNvPicPr>
            <a:picLocks noChangeAspect="1"/>
          </p:cNvPicPr>
          <p:nvPr/>
        </p:nvPicPr>
        <p:blipFill>
          <a:blip r:embed="rId1"/>
          <a:stretch>
            <a:fillRect/>
          </a:stretch>
        </p:blipFill>
        <p:spPr>
          <a:xfrm>
            <a:off x="10058400" y="219456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About 1 in 35 functions is vulnerable</a:t>
            </a:r>
            <a:endParaRPr lang="en-US" sz="3400" dirty="0"/>
          </a:p>
        </p:txBody>
      </p:sp>
      <p:sp>
        <p:nvSpPr>
          <p:cNvPr id="3" name="panel"/>
          <p:cNvSpPr/>
          <p:nvPr/>
        </p:nvSpPr>
        <p:spPr>
          <a:xfrm>
            <a:off x="548640" y="1417320"/>
            <a:ext cx="3538728" cy="2240280"/>
          </a:xfrm>
          <a:prstGeom prst="roundRect">
            <a:avLst>
              <a:gd name="adj" fmla="val 4898"/>
            </a:avLst>
          </a:prstGeom>
          <a:solidFill>
            <a:schemeClr val="bg2"/>
          </a:solidFill>
          <a:ln w="12700">
            <a:solidFill>
              <a:schemeClr val="bg2"/>
            </a:solidFill>
            <a:prstDash val="solid"/>
          </a:ln>
        </p:spPr>
      </p:sp>
      <p:sp>
        <p:nvSpPr>
          <p:cNvPr id="4" name="Text 2"/>
          <p:cNvSpPr txBox="1"/>
          <p:nvPr/>
        </p:nvSpPr>
        <p:spPr>
          <a:xfrm>
            <a:off x="822960" y="1554480"/>
            <a:ext cx="3017520" cy="868680"/>
          </a:xfrm>
          <a:prstGeom prst="rect">
            <a:avLst/>
          </a:prstGeom>
          <a:noFill/>
          <a:ln/>
        </p:spPr>
        <p:txBody>
          <a:bodyPr wrap="square" lIns="0" tIns="0" rIns="0" bIns="0" rtlCol="0" anchor="ctr"/>
          <a:lstStyle/>
          <a:p>
            <a:pPr indent="0" marL="0">
              <a:buNone/>
            </a:pPr>
            <a:r>
              <a:rPr lang="en-US" sz="5000" b="1" dirty="0">
                <a:solidFill>
                  <a:schemeClr val="accent1"/>
                </a:solidFill>
                <a:latin typeface="Cambria" pitchFamily="34" charset="0"/>
                <a:ea typeface="Cambria" pitchFamily="34" charset="-122"/>
                <a:cs typeface="Cambria" pitchFamily="34" charset="-120"/>
              </a:rPr>
              <a:t>644</a:t>
            </a:r>
            <a:endParaRPr lang="en-US" sz="5000" dirty="0"/>
          </a:p>
        </p:txBody>
      </p:sp>
      <p:sp>
        <p:nvSpPr>
          <p:cNvPr id="5" name="Text 3"/>
          <p:cNvSpPr txBox="1"/>
          <p:nvPr/>
        </p:nvSpPr>
        <p:spPr>
          <a:xfrm>
            <a:off x="822960" y="2468880"/>
            <a:ext cx="3017520" cy="1051560"/>
          </a:xfrm>
          <a:prstGeom prst="rect">
            <a:avLst/>
          </a:prstGeom>
          <a:noFill/>
          <a:ln/>
        </p:spPr>
        <p:txBody>
          <a:bodyPr wrap="square" lIns="0" tIns="0" rIns="0" bIns="0" rtlCol="0" anchor="t"/>
          <a:lstStyle/>
          <a:p>
            <a:pPr indent="0" marL="0">
              <a:buNone/>
            </a:pPr>
            <a:r>
              <a:rPr lang="en-US" sz="1500" dirty="0">
                <a:solidFill>
                  <a:schemeClr val="tx1"/>
                </a:solidFill>
              </a:rPr>
              <a:t>vulnerable functions out of 22,877 in X1 with P3 after cleaning (2.8%)</a:t>
            </a:r>
            <a:endParaRPr lang="en-US" sz="1500" dirty="0"/>
          </a:p>
        </p:txBody>
      </p:sp>
      <p:sp>
        <p:nvSpPr>
          <p:cNvPr id="6" name="panel"/>
          <p:cNvSpPr/>
          <p:nvPr/>
        </p:nvSpPr>
        <p:spPr>
          <a:xfrm>
            <a:off x="4325112" y="1417320"/>
            <a:ext cx="3538728" cy="2240280"/>
          </a:xfrm>
          <a:prstGeom prst="roundRect">
            <a:avLst>
              <a:gd name="adj" fmla="val 4898"/>
            </a:avLst>
          </a:prstGeom>
          <a:solidFill>
            <a:schemeClr val="bg2"/>
          </a:solidFill>
          <a:ln w="12700">
            <a:solidFill>
              <a:schemeClr val="bg2"/>
            </a:solidFill>
            <a:prstDash val="solid"/>
          </a:ln>
        </p:spPr>
      </p:sp>
      <p:sp>
        <p:nvSpPr>
          <p:cNvPr id="7" name="Text 5"/>
          <p:cNvSpPr txBox="1"/>
          <p:nvPr/>
        </p:nvSpPr>
        <p:spPr>
          <a:xfrm>
            <a:off x="4599432" y="1554480"/>
            <a:ext cx="3017520" cy="86868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97.4%</a:t>
            </a:r>
            <a:endParaRPr lang="en-US" sz="5000" dirty="0"/>
          </a:p>
        </p:txBody>
      </p:sp>
      <p:sp>
        <p:nvSpPr>
          <p:cNvPr id="8" name="Text 6"/>
          <p:cNvSpPr txBox="1"/>
          <p:nvPr/>
        </p:nvSpPr>
        <p:spPr>
          <a:xfrm>
            <a:off x="4599432" y="2468880"/>
            <a:ext cx="3017520" cy="1051560"/>
          </a:xfrm>
          <a:prstGeom prst="rect">
            <a:avLst/>
          </a:prstGeom>
          <a:noFill/>
          <a:ln/>
        </p:spPr>
        <p:txBody>
          <a:bodyPr wrap="square" lIns="0" tIns="0" rIns="0" bIns="0" rtlCol="0" anchor="t"/>
          <a:lstStyle/>
          <a:p>
            <a:pPr indent="0" marL="0">
              <a:buNone/>
            </a:pPr>
            <a:r>
              <a:rPr lang="en-US" sz="1500" dirty="0">
                <a:solidFill>
                  <a:schemeClr val="tx1"/>
                </a:solidFill>
              </a:rPr>
              <a:t>test accuracy of a model that never flags anything. The 93% target is met before any training</a:t>
            </a:r>
            <a:endParaRPr lang="en-US" sz="1500" dirty="0"/>
          </a:p>
        </p:txBody>
      </p:sp>
      <p:sp>
        <p:nvSpPr>
          <p:cNvPr id="9" name="panel"/>
          <p:cNvSpPr/>
          <p:nvPr/>
        </p:nvSpPr>
        <p:spPr>
          <a:xfrm>
            <a:off x="8101584" y="1417320"/>
            <a:ext cx="3538728" cy="2240280"/>
          </a:xfrm>
          <a:prstGeom prst="roundRect">
            <a:avLst>
              <a:gd name="adj" fmla="val 4898"/>
            </a:avLst>
          </a:prstGeom>
          <a:solidFill>
            <a:schemeClr val="bg2"/>
          </a:solidFill>
          <a:ln w="12700">
            <a:solidFill>
              <a:schemeClr val="bg2"/>
            </a:solidFill>
            <a:prstDash val="solid"/>
          </a:ln>
        </p:spPr>
      </p:sp>
      <p:sp>
        <p:nvSpPr>
          <p:cNvPr id="10" name="Text 8"/>
          <p:cNvSpPr txBox="1"/>
          <p:nvPr/>
        </p:nvSpPr>
        <p:spPr>
          <a:xfrm>
            <a:off x="8375904" y="1554480"/>
            <a:ext cx="3017520" cy="8686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My question</a:t>
            </a:r>
            <a:endParaRPr lang="en-US" sz="3000" dirty="0"/>
          </a:p>
        </p:txBody>
      </p:sp>
      <p:sp>
        <p:nvSpPr>
          <p:cNvPr id="11" name="Text 9"/>
          <p:cNvSpPr txBox="1"/>
          <p:nvPr/>
        </p:nvSpPr>
        <p:spPr>
          <a:xfrm>
            <a:off x="8375904" y="2468880"/>
            <a:ext cx="3017520" cy="1051560"/>
          </a:xfrm>
          <a:prstGeom prst="rect">
            <a:avLst/>
          </a:prstGeom>
          <a:noFill/>
          <a:ln/>
        </p:spPr>
        <p:txBody>
          <a:bodyPr wrap="square" lIns="0" tIns="0" rIns="0" bIns="0" rtlCol="0" anchor="t"/>
          <a:lstStyle/>
          <a:p>
            <a:pPr indent="0" marL="0">
              <a:buNone/>
            </a:pPr>
            <a:r>
              <a:rPr lang="en-US" sz="1500" dirty="0">
                <a:solidFill>
                  <a:schemeClr val="tx1"/>
                </a:solidFill>
              </a:rPr>
              <a:t>Does class weighting help CodeBERT? The paper says plain class weighting did not help its 13-billion-parameter model</a:t>
            </a:r>
            <a:endParaRPr lang="en-US" sz="1500" dirty="0"/>
          </a:p>
        </p:txBody>
      </p:sp>
      <p:sp>
        <p:nvSpPr>
          <p:cNvPr id="12" name="Text 10"/>
          <p:cNvSpPr txBox="1"/>
          <p:nvPr/>
        </p:nvSpPr>
        <p:spPr>
          <a:xfrm>
            <a:off x="548640" y="3977640"/>
            <a:ext cx="3657600" cy="365760"/>
          </a:xfrm>
          <a:prstGeom prst="rect">
            <a:avLst/>
          </a:prstGeom>
          <a:noFill/>
          <a:ln/>
        </p:spPr>
        <p:txBody>
          <a:bodyPr wrap="square" lIns="0" tIns="0" rIns="0" bIns="0" rtlCol="0" anchor="ctr"/>
          <a:lstStyle/>
          <a:p>
            <a:pPr indent="0" marL="0">
              <a:buNone/>
            </a:pPr>
            <a:r>
              <a:rPr lang="en-US" sz="1500" b="1" dirty="0">
                <a:solidFill>
                  <a:schemeClr val="accent4"/>
                </a:solidFill>
              </a:rPr>
              <a:t>What I did</a:t>
            </a:r>
            <a:endParaRPr lang="en-US" sz="1500" dirty="0"/>
          </a:p>
        </p:txBody>
      </p:sp>
      <p:sp>
        <p:nvSpPr>
          <p:cNvPr id="13" name="step-1"/>
          <p:cNvSpPr/>
          <p:nvPr/>
        </p:nvSpPr>
        <p:spPr>
          <a:xfrm>
            <a:off x="548640" y="4434840"/>
            <a:ext cx="2249424" cy="1143000"/>
          </a:xfrm>
          <a:prstGeom prst="homePlate">
            <a:avLst/>
          </a:prstGeom>
          <a:solidFill>
            <a:schemeClr val="tx2"/>
          </a:solidFill>
          <a:ln w="19050">
            <a:solidFill>
              <a:schemeClr val="bg1"/>
            </a:solidFill>
            <a:prstDash val="solid"/>
          </a:ln>
        </p:spPr>
      </p:sp>
      <p:sp>
        <p:nvSpPr>
          <p:cNvPr id="14" name="Text 12"/>
          <p:cNvSpPr txBox="1"/>
          <p:nvPr/>
        </p:nvSpPr>
        <p:spPr>
          <a:xfrm>
            <a:off x="713232" y="4480560"/>
            <a:ext cx="1737360" cy="1051560"/>
          </a:xfrm>
          <a:prstGeom prst="rect">
            <a:avLst/>
          </a:prstGeom>
          <a:noFill/>
          <a:ln/>
        </p:spPr>
        <p:txBody>
          <a:bodyPr wrap="square" lIns="0" tIns="0" rIns="0" bIns="0" rtlCol="0" anchor="ctr"/>
          <a:lstStyle/>
          <a:p>
            <a:pPr indent="0" marL="0">
              <a:buNone/>
            </a:pPr>
            <a:r>
              <a:rPr lang="en-US" sz="1400" b="1" dirty="0">
                <a:solidFill>
                  <a:schemeClr val="bg1"/>
                </a:solidFill>
              </a:rPr>
              <a:t>1  </a:t>
            </a:r>
            <a:pPr indent="0" marL="0">
              <a:buNone/>
            </a:pPr>
            <a:r>
              <a:rPr lang="en-US" sz="1400" dirty="0">
                <a:solidFill>
                  <a:schemeClr val="bg1"/>
                </a:solidFill>
              </a:rPr>
              <a:t>Pin and check the data</a:t>
            </a:r>
            <a:endParaRPr lang="en-US" sz="1400" dirty="0"/>
          </a:p>
        </p:txBody>
      </p:sp>
      <p:sp>
        <p:nvSpPr>
          <p:cNvPr id="15" name="step-2"/>
          <p:cNvSpPr/>
          <p:nvPr/>
        </p:nvSpPr>
        <p:spPr>
          <a:xfrm>
            <a:off x="2779776" y="4434840"/>
            <a:ext cx="2249424" cy="1143000"/>
          </a:xfrm>
          <a:prstGeom prst="homePlate">
            <a:avLst/>
          </a:prstGeom>
          <a:solidFill>
            <a:schemeClr val="tx2"/>
          </a:solidFill>
          <a:ln w="19050">
            <a:solidFill>
              <a:schemeClr val="bg1"/>
            </a:solidFill>
            <a:prstDash val="solid"/>
          </a:ln>
        </p:spPr>
      </p:sp>
      <p:sp>
        <p:nvSpPr>
          <p:cNvPr id="16" name="Text 14"/>
          <p:cNvSpPr txBox="1"/>
          <p:nvPr/>
        </p:nvSpPr>
        <p:spPr>
          <a:xfrm>
            <a:off x="2944368" y="4480560"/>
            <a:ext cx="1737360" cy="1051560"/>
          </a:xfrm>
          <a:prstGeom prst="rect">
            <a:avLst/>
          </a:prstGeom>
          <a:noFill/>
          <a:ln/>
        </p:spPr>
        <p:txBody>
          <a:bodyPr wrap="square" lIns="0" tIns="0" rIns="0" bIns="0" rtlCol="0" anchor="ctr"/>
          <a:lstStyle/>
          <a:p>
            <a:pPr indent="0" marL="0">
              <a:buNone/>
            </a:pPr>
            <a:r>
              <a:rPr lang="en-US" sz="1400" b="1" dirty="0">
                <a:solidFill>
                  <a:schemeClr val="bg1"/>
                </a:solidFill>
              </a:rPr>
              <a:t>2  </a:t>
            </a:r>
            <a:pPr indent="0" marL="0">
              <a:buNone/>
            </a:pPr>
            <a:r>
              <a:rPr lang="en-US" sz="1400" dirty="0">
                <a:solidFill>
                  <a:schemeClr val="bg1"/>
                </a:solidFill>
              </a:rPr>
              <a:t>Clean it, quarantine doubtful labels</a:t>
            </a:r>
            <a:endParaRPr lang="en-US" sz="1400" dirty="0"/>
          </a:p>
        </p:txBody>
      </p:sp>
      <p:sp>
        <p:nvSpPr>
          <p:cNvPr id="17" name="step-3"/>
          <p:cNvSpPr/>
          <p:nvPr/>
        </p:nvSpPr>
        <p:spPr>
          <a:xfrm>
            <a:off x="5010912" y="4434840"/>
            <a:ext cx="2249424" cy="1143000"/>
          </a:xfrm>
          <a:prstGeom prst="homePlate">
            <a:avLst/>
          </a:prstGeom>
          <a:solidFill>
            <a:schemeClr val="tx2"/>
          </a:solidFill>
          <a:ln w="19050">
            <a:solidFill>
              <a:schemeClr val="bg1"/>
            </a:solidFill>
            <a:prstDash val="solid"/>
          </a:ln>
        </p:spPr>
      </p:sp>
      <p:sp>
        <p:nvSpPr>
          <p:cNvPr id="18" name="Text 16"/>
          <p:cNvSpPr txBox="1"/>
          <p:nvPr/>
        </p:nvSpPr>
        <p:spPr>
          <a:xfrm>
            <a:off x="5175504" y="4480560"/>
            <a:ext cx="1737360" cy="1051560"/>
          </a:xfrm>
          <a:prstGeom prst="rect">
            <a:avLst/>
          </a:prstGeom>
          <a:noFill/>
          <a:ln/>
        </p:spPr>
        <p:txBody>
          <a:bodyPr wrap="square" lIns="0" tIns="0" rIns="0" bIns="0" rtlCol="0" anchor="ctr"/>
          <a:lstStyle/>
          <a:p>
            <a:pPr indent="0" marL="0">
              <a:buNone/>
            </a:pPr>
            <a:r>
              <a:rPr lang="en-US" sz="1400" b="1" dirty="0">
                <a:solidFill>
                  <a:schemeClr val="bg1"/>
                </a:solidFill>
              </a:rPr>
              <a:t>3  </a:t>
            </a:r>
            <a:pPr indent="0" marL="0">
              <a:buNone/>
            </a:pPr>
            <a:r>
              <a:rPr lang="en-US" sz="1400" dirty="0">
                <a:solidFill>
                  <a:schemeClr val="bg1"/>
                </a:solidFill>
              </a:rPr>
              <a:t>Load a warehouse built from my ER model</a:t>
            </a:r>
            <a:endParaRPr lang="en-US" sz="1400" dirty="0"/>
          </a:p>
        </p:txBody>
      </p:sp>
      <p:sp>
        <p:nvSpPr>
          <p:cNvPr id="19" name="step-4"/>
          <p:cNvSpPr/>
          <p:nvPr/>
        </p:nvSpPr>
        <p:spPr>
          <a:xfrm>
            <a:off x="7242048" y="4434840"/>
            <a:ext cx="2249424" cy="1143000"/>
          </a:xfrm>
          <a:prstGeom prst="homePlate">
            <a:avLst/>
          </a:prstGeom>
          <a:solidFill>
            <a:schemeClr val="accent1"/>
          </a:solidFill>
          <a:ln w="19050">
            <a:solidFill>
              <a:schemeClr val="bg1"/>
            </a:solidFill>
            <a:prstDash val="solid"/>
          </a:ln>
        </p:spPr>
      </p:sp>
      <p:sp>
        <p:nvSpPr>
          <p:cNvPr id="20" name="Text 18"/>
          <p:cNvSpPr txBox="1"/>
          <p:nvPr/>
        </p:nvSpPr>
        <p:spPr>
          <a:xfrm>
            <a:off x="7406640" y="4480560"/>
            <a:ext cx="1737360" cy="1051560"/>
          </a:xfrm>
          <a:prstGeom prst="rect">
            <a:avLst/>
          </a:prstGeom>
          <a:noFill/>
          <a:ln/>
        </p:spPr>
        <p:txBody>
          <a:bodyPr wrap="square" lIns="0" tIns="0" rIns="0" bIns="0" rtlCol="0" anchor="ctr"/>
          <a:lstStyle/>
          <a:p>
            <a:pPr indent="0" marL="0">
              <a:buNone/>
            </a:pPr>
            <a:r>
              <a:rPr lang="en-US" sz="1400" b="1" dirty="0">
                <a:solidFill>
                  <a:schemeClr val="bg1"/>
                </a:solidFill>
              </a:rPr>
              <a:t>4  </a:t>
            </a:r>
            <a:pPr indent="0" marL="0">
              <a:buNone/>
            </a:pPr>
            <a:r>
              <a:rPr lang="en-US" sz="1400" dirty="0">
                <a:solidFill>
                  <a:schemeClr val="bg1"/>
                </a:solidFill>
              </a:rPr>
              <a:t>Train CodeBERT with class weights</a:t>
            </a:r>
            <a:endParaRPr lang="en-US" sz="1400" dirty="0"/>
          </a:p>
        </p:txBody>
      </p:sp>
      <p:sp>
        <p:nvSpPr>
          <p:cNvPr id="21" name="step-5"/>
          <p:cNvSpPr/>
          <p:nvPr/>
        </p:nvSpPr>
        <p:spPr>
          <a:xfrm>
            <a:off x="9473184" y="4434840"/>
            <a:ext cx="2249424" cy="1143000"/>
          </a:xfrm>
          <a:prstGeom prst="homePlate">
            <a:avLst/>
          </a:prstGeom>
          <a:solidFill>
            <a:schemeClr val="tx2"/>
          </a:solidFill>
          <a:ln w="19050">
            <a:solidFill>
              <a:schemeClr val="bg1"/>
            </a:solidFill>
            <a:prstDash val="solid"/>
          </a:ln>
        </p:spPr>
      </p:sp>
      <p:sp>
        <p:nvSpPr>
          <p:cNvPr id="22" name="Text 20"/>
          <p:cNvSpPr txBox="1"/>
          <p:nvPr/>
        </p:nvSpPr>
        <p:spPr>
          <a:xfrm>
            <a:off x="9637776" y="4480560"/>
            <a:ext cx="1737360" cy="1051560"/>
          </a:xfrm>
          <a:prstGeom prst="rect">
            <a:avLst/>
          </a:prstGeom>
          <a:noFill/>
          <a:ln/>
        </p:spPr>
        <p:txBody>
          <a:bodyPr wrap="square" lIns="0" tIns="0" rIns="0" bIns="0" rtlCol="0" anchor="ctr"/>
          <a:lstStyle/>
          <a:p>
            <a:pPr indent="0" marL="0">
              <a:buNone/>
            </a:pPr>
            <a:r>
              <a:rPr lang="en-US" sz="1400" b="1" dirty="0">
                <a:solidFill>
                  <a:schemeClr val="bg1"/>
                </a:solidFill>
              </a:rPr>
              <a:t>5  </a:t>
            </a:r>
            <a:pPr indent="0" marL="0">
              <a:buNone/>
            </a:pPr>
            <a:r>
              <a:rPr lang="en-US" sz="1400" dirty="0">
                <a:solidFill>
                  <a:schemeClr val="bg1"/>
                </a:solidFill>
              </a:rPr>
              <a:t>Measure what a review team gains</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Data lifecycle and value chain</a:t>
            </a:r>
            <a:endParaRPr lang="en-US" sz="3400" dirty="0"/>
          </a:p>
        </p:txBody>
      </p:sp>
      <p:sp>
        <p:nvSpPr>
          <p:cNvPr id="3" name="stage-1"/>
          <p:cNvSpPr/>
          <p:nvPr/>
        </p:nvSpPr>
        <p:spPr>
          <a:xfrm>
            <a:off x="548640" y="1371600"/>
            <a:ext cx="1481328" cy="1572768"/>
          </a:xfrm>
          <a:prstGeom prst="roundRect">
            <a:avLst>
              <a:gd name="adj" fmla="val 6173"/>
            </a:avLst>
          </a:prstGeom>
          <a:solidFill>
            <a:schemeClr val="bg2"/>
          </a:solidFill>
          <a:ln w="12700">
            <a:solidFill>
              <a:schemeClr val="bg2"/>
            </a:solidFill>
            <a:prstDash val="solid"/>
          </a:ln>
        </p:spPr>
      </p:sp>
      <p:sp>
        <p:nvSpPr>
          <p:cNvPr id="4" name="Text 2"/>
          <p:cNvSpPr txBox="1"/>
          <p:nvPr/>
        </p:nvSpPr>
        <p:spPr>
          <a:xfrm>
            <a:off x="667512" y="1463040"/>
            <a:ext cx="1243584" cy="141732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1</a:t>
            </a:r>
            <a:endParaRPr lang="en-US" sz="1400" dirty="0"/>
          </a:p>
          <a:p>
            <a:pPr indent="0" marL="0">
              <a:spcAft>
                <a:spcPts val="300"/>
              </a:spcAft>
              <a:buNone/>
            </a:pPr>
            <a:r>
              <a:rPr lang="en-US" sz="1400" b="1" dirty="0">
                <a:solidFill>
                  <a:schemeClr val="tx2"/>
                </a:solidFill>
              </a:rPr>
              <a:t>Acquisition</a:t>
            </a:r>
            <a:endParaRPr lang="en-US" sz="1400" dirty="0"/>
          </a:p>
          <a:p>
            <a:pPr indent="0" marL="0">
              <a:spcAft>
                <a:spcPts val="300"/>
              </a:spcAft>
              <a:buNone/>
            </a:pPr>
            <a:r>
              <a:rPr lang="en-US" sz="1200" dirty="0">
                <a:solidFill>
                  <a:schemeClr val="tx1"/>
                </a:solidFill>
              </a:rPr>
              <a:t>pinned commit, SHA-256 checked</a:t>
            </a:r>
            <a:endParaRPr lang="en-US" sz="1400" dirty="0"/>
          </a:p>
        </p:txBody>
      </p:sp>
      <p:sp>
        <p:nvSpPr>
          <p:cNvPr id="5" name="flow-1"/>
          <p:cNvSpPr/>
          <p:nvPr/>
        </p:nvSpPr>
        <p:spPr>
          <a:xfrm>
            <a:off x="2048256" y="2157984"/>
            <a:ext cx="84277" cy="0"/>
          </a:xfrm>
          <a:prstGeom prst="line">
            <a:avLst/>
          </a:prstGeom>
          <a:noFill/>
          <a:ln w="19050">
            <a:solidFill>
              <a:schemeClr val="accent4"/>
            </a:solidFill>
            <a:prstDash val="solid"/>
            <a:tailEnd type="triangle"/>
          </a:ln>
        </p:spPr>
      </p:sp>
      <p:sp>
        <p:nvSpPr>
          <p:cNvPr id="6" name="stage-2"/>
          <p:cNvSpPr/>
          <p:nvPr/>
        </p:nvSpPr>
        <p:spPr>
          <a:xfrm>
            <a:off x="2150821" y="1371600"/>
            <a:ext cx="1481328" cy="1572768"/>
          </a:xfrm>
          <a:prstGeom prst="roundRect">
            <a:avLst>
              <a:gd name="adj" fmla="val 6173"/>
            </a:avLst>
          </a:prstGeom>
          <a:solidFill>
            <a:schemeClr val="bg2"/>
          </a:solidFill>
          <a:ln w="12700">
            <a:solidFill>
              <a:schemeClr val="bg2"/>
            </a:solidFill>
            <a:prstDash val="solid"/>
          </a:ln>
        </p:spPr>
      </p:sp>
      <p:sp>
        <p:nvSpPr>
          <p:cNvPr id="7" name="Text 5"/>
          <p:cNvSpPr txBox="1"/>
          <p:nvPr/>
        </p:nvSpPr>
        <p:spPr>
          <a:xfrm>
            <a:off x="2269693" y="1463040"/>
            <a:ext cx="1243584" cy="141732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2</a:t>
            </a:r>
            <a:endParaRPr lang="en-US" sz="1400" dirty="0"/>
          </a:p>
          <a:p>
            <a:pPr indent="0" marL="0">
              <a:spcAft>
                <a:spcPts val="300"/>
              </a:spcAft>
              <a:buNone/>
            </a:pPr>
            <a:r>
              <a:rPr lang="en-US" sz="1400" b="1" dirty="0">
                <a:solidFill>
                  <a:schemeClr val="tx2"/>
                </a:solidFill>
              </a:rPr>
              <a:t>Validation</a:t>
            </a:r>
            <a:endParaRPr lang="en-US" sz="1400" dirty="0"/>
          </a:p>
          <a:p>
            <a:pPr indent="0" marL="0">
              <a:spcAft>
                <a:spcPts val="300"/>
              </a:spcAft>
              <a:buNone/>
            </a:pPr>
            <a:r>
              <a:rPr lang="en-US" sz="1200" dirty="0">
                <a:solidFill>
                  <a:schemeClr val="tx1"/>
                </a:solidFill>
              </a:rPr>
              <a:t>rules R1 to R5, 41 rows quarantined</a:t>
            </a:r>
            <a:endParaRPr lang="en-US" sz="1400" dirty="0"/>
          </a:p>
        </p:txBody>
      </p:sp>
      <p:sp>
        <p:nvSpPr>
          <p:cNvPr id="8" name="flow-2"/>
          <p:cNvSpPr/>
          <p:nvPr/>
        </p:nvSpPr>
        <p:spPr>
          <a:xfrm>
            <a:off x="3650437" y="2157984"/>
            <a:ext cx="84277" cy="0"/>
          </a:xfrm>
          <a:prstGeom prst="line">
            <a:avLst/>
          </a:prstGeom>
          <a:noFill/>
          <a:ln w="19050">
            <a:solidFill>
              <a:schemeClr val="accent4"/>
            </a:solidFill>
            <a:prstDash val="solid"/>
            <a:tailEnd type="triangle"/>
          </a:ln>
        </p:spPr>
      </p:sp>
      <p:sp>
        <p:nvSpPr>
          <p:cNvPr id="9" name="stage-3"/>
          <p:cNvSpPr/>
          <p:nvPr/>
        </p:nvSpPr>
        <p:spPr>
          <a:xfrm>
            <a:off x="3753002" y="1371600"/>
            <a:ext cx="1481328" cy="1572768"/>
          </a:xfrm>
          <a:prstGeom prst="roundRect">
            <a:avLst>
              <a:gd name="adj" fmla="val 6173"/>
            </a:avLst>
          </a:prstGeom>
          <a:solidFill>
            <a:schemeClr val="bg2"/>
          </a:solidFill>
          <a:ln w="12700">
            <a:solidFill>
              <a:schemeClr val="bg2"/>
            </a:solidFill>
            <a:prstDash val="solid"/>
          </a:ln>
        </p:spPr>
      </p:sp>
      <p:sp>
        <p:nvSpPr>
          <p:cNvPr id="10" name="Text 8"/>
          <p:cNvSpPr txBox="1"/>
          <p:nvPr/>
        </p:nvSpPr>
        <p:spPr>
          <a:xfrm>
            <a:off x="3871874" y="1463040"/>
            <a:ext cx="1243584" cy="141732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3</a:t>
            </a:r>
            <a:endParaRPr lang="en-US" sz="1400" dirty="0"/>
          </a:p>
          <a:p>
            <a:pPr indent="0" marL="0">
              <a:spcAft>
                <a:spcPts val="300"/>
              </a:spcAft>
              <a:buNone/>
            </a:pPr>
            <a:r>
              <a:rPr lang="en-US" sz="1400" b="1" dirty="0">
                <a:solidFill>
                  <a:schemeClr val="tx2"/>
                </a:solidFill>
              </a:rPr>
              <a:t>Storage</a:t>
            </a:r>
            <a:endParaRPr lang="en-US" sz="1400" dirty="0"/>
          </a:p>
          <a:p>
            <a:pPr indent="0" marL="0">
              <a:spcAft>
                <a:spcPts val="300"/>
              </a:spcAft>
              <a:buNone/>
            </a:pPr>
            <a:r>
              <a:rPr lang="en-US" sz="1200" dirty="0">
                <a:solidFill>
                  <a:schemeClr val="tx1"/>
                </a:solidFill>
              </a:rPr>
              <a:t>read-only raw files, SQLite warehouse</a:t>
            </a:r>
            <a:endParaRPr lang="en-US" sz="1400" dirty="0"/>
          </a:p>
        </p:txBody>
      </p:sp>
      <p:sp>
        <p:nvSpPr>
          <p:cNvPr id="11" name="flow-3"/>
          <p:cNvSpPr/>
          <p:nvPr/>
        </p:nvSpPr>
        <p:spPr>
          <a:xfrm>
            <a:off x="5252618" y="2157984"/>
            <a:ext cx="84277" cy="0"/>
          </a:xfrm>
          <a:prstGeom prst="line">
            <a:avLst/>
          </a:prstGeom>
          <a:noFill/>
          <a:ln w="19050">
            <a:solidFill>
              <a:schemeClr val="accent4"/>
            </a:solidFill>
            <a:prstDash val="solid"/>
            <a:tailEnd type="triangle"/>
          </a:ln>
        </p:spPr>
      </p:sp>
      <p:sp>
        <p:nvSpPr>
          <p:cNvPr id="12" name="stage-4"/>
          <p:cNvSpPr/>
          <p:nvPr/>
        </p:nvSpPr>
        <p:spPr>
          <a:xfrm>
            <a:off x="5355184" y="1371600"/>
            <a:ext cx="1481328" cy="1572768"/>
          </a:xfrm>
          <a:prstGeom prst="roundRect">
            <a:avLst>
              <a:gd name="adj" fmla="val 6173"/>
            </a:avLst>
          </a:prstGeom>
          <a:solidFill>
            <a:schemeClr val="bg2"/>
          </a:solidFill>
          <a:ln w="12700">
            <a:solidFill>
              <a:schemeClr val="bg2"/>
            </a:solidFill>
            <a:prstDash val="solid"/>
          </a:ln>
        </p:spPr>
      </p:sp>
      <p:sp>
        <p:nvSpPr>
          <p:cNvPr id="13" name="Text 11"/>
          <p:cNvSpPr txBox="1"/>
          <p:nvPr/>
        </p:nvSpPr>
        <p:spPr>
          <a:xfrm>
            <a:off x="5474056" y="1463040"/>
            <a:ext cx="1243584" cy="141732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4</a:t>
            </a:r>
            <a:endParaRPr lang="en-US" sz="1400" dirty="0"/>
          </a:p>
          <a:p>
            <a:pPr indent="0" marL="0">
              <a:spcAft>
                <a:spcPts val="300"/>
              </a:spcAft>
              <a:buNone/>
            </a:pPr>
            <a:r>
              <a:rPr lang="en-US" sz="1400" b="1" dirty="0">
                <a:solidFill>
                  <a:schemeClr val="tx2"/>
                </a:solidFill>
              </a:rPr>
              <a:t>Transformation</a:t>
            </a:r>
            <a:endParaRPr lang="en-US" sz="1400" dirty="0"/>
          </a:p>
          <a:p>
            <a:pPr indent="0" marL="0">
              <a:spcAft>
                <a:spcPts val="300"/>
              </a:spcAft>
              <a:buNone/>
            </a:pPr>
            <a:r>
              <a:rPr lang="en-US" sz="1200" dirty="0">
                <a:solidFill>
                  <a:schemeClr val="tx1"/>
                </a:solidFill>
              </a:rPr>
              <a:t>56 copies removed, cut at 512 tokens</a:t>
            </a:r>
            <a:endParaRPr lang="en-US" sz="1400" dirty="0"/>
          </a:p>
        </p:txBody>
      </p:sp>
      <p:sp>
        <p:nvSpPr>
          <p:cNvPr id="14" name="flow-4"/>
          <p:cNvSpPr/>
          <p:nvPr/>
        </p:nvSpPr>
        <p:spPr>
          <a:xfrm>
            <a:off x="6854800" y="2157984"/>
            <a:ext cx="84277" cy="0"/>
          </a:xfrm>
          <a:prstGeom prst="line">
            <a:avLst/>
          </a:prstGeom>
          <a:noFill/>
          <a:ln w="19050">
            <a:solidFill>
              <a:schemeClr val="accent4"/>
            </a:solidFill>
            <a:prstDash val="solid"/>
            <a:tailEnd type="triangle"/>
          </a:ln>
        </p:spPr>
      </p:sp>
      <p:sp>
        <p:nvSpPr>
          <p:cNvPr id="15" name="stage-5"/>
          <p:cNvSpPr/>
          <p:nvPr/>
        </p:nvSpPr>
        <p:spPr>
          <a:xfrm>
            <a:off x="6957365" y="1371600"/>
            <a:ext cx="1481328" cy="1572768"/>
          </a:xfrm>
          <a:prstGeom prst="roundRect">
            <a:avLst>
              <a:gd name="adj" fmla="val 6173"/>
            </a:avLst>
          </a:prstGeom>
          <a:solidFill>
            <a:schemeClr val="accent1"/>
          </a:solidFill>
          <a:ln w="12700">
            <a:solidFill>
              <a:schemeClr val="accent1"/>
            </a:solidFill>
            <a:prstDash val="solid"/>
          </a:ln>
        </p:spPr>
      </p:sp>
      <p:sp>
        <p:nvSpPr>
          <p:cNvPr id="16" name="Text 14"/>
          <p:cNvSpPr txBox="1"/>
          <p:nvPr/>
        </p:nvSpPr>
        <p:spPr>
          <a:xfrm>
            <a:off x="7076237" y="1463040"/>
            <a:ext cx="1243584" cy="141732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5</a:t>
            </a:r>
            <a:endParaRPr lang="en-US" sz="1400" dirty="0"/>
          </a:p>
          <a:p>
            <a:pPr indent="0" marL="0">
              <a:spcAft>
                <a:spcPts val="300"/>
              </a:spcAft>
              <a:buNone/>
            </a:pPr>
            <a:r>
              <a:rPr lang="en-US" sz="1400" b="1" dirty="0">
                <a:solidFill>
                  <a:schemeClr val="bg1"/>
                </a:solidFill>
              </a:rPr>
              <a:t>Training</a:t>
            </a:r>
            <a:endParaRPr lang="en-US" sz="1400" dirty="0"/>
          </a:p>
          <a:p>
            <a:pPr indent="0" marL="0">
              <a:spcAft>
                <a:spcPts val="300"/>
              </a:spcAft>
              <a:buNone/>
            </a:pPr>
            <a:r>
              <a:rPr lang="en-US" sz="1200" dirty="0">
                <a:solidFill>
                  <a:schemeClr val="bg1"/>
                </a:solidFill>
              </a:rPr>
              <a:t>CodeBERT with class-weighted loss</a:t>
            </a:r>
            <a:endParaRPr lang="en-US" sz="1400" dirty="0"/>
          </a:p>
        </p:txBody>
      </p:sp>
      <p:sp>
        <p:nvSpPr>
          <p:cNvPr id="17" name="flow-5"/>
          <p:cNvSpPr/>
          <p:nvPr/>
        </p:nvSpPr>
        <p:spPr>
          <a:xfrm>
            <a:off x="8456981" y="2157984"/>
            <a:ext cx="84277" cy="0"/>
          </a:xfrm>
          <a:prstGeom prst="line">
            <a:avLst/>
          </a:prstGeom>
          <a:noFill/>
          <a:ln w="19050">
            <a:solidFill>
              <a:schemeClr val="accent4"/>
            </a:solidFill>
            <a:prstDash val="solid"/>
            <a:tailEnd type="triangle"/>
          </a:ln>
        </p:spPr>
      </p:sp>
      <p:sp>
        <p:nvSpPr>
          <p:cNvPr id="18" name="stage-6"/>
          <p:cNvSpPr/>
          <p:nvPr/>
        </p:nvSpPr>
        <p:spPr>
          <a:xfrm>
            <a:off x="8559546" y="1371600"/>
            <a:ext cx="1481328" cy="1572768"/>
          </a:xfrm>
          <a:prstGeom prst="roundRect">
            <a:avLst>
              <a:gd name="adj" fmla="val 6173"/>
            </a:avLst>
          </a:prstGeom>
          <a:solidFill>
            <a:schemeClr val="accent1"/>
          </a:solidFill>
          <a:ln w="12700">
            <a:solidFill>
              <a:schemeClr val="accent1"/>
            </a:solidFill>
            <a:prstDash val="solid"/>
          </a:ln>
        </p:spPr>
      </p:sp>
      <p:sp>
        <p:nvSpPr>
          <p:cNvPr id="19" name="Text 17"/>
          <p:cNvSpPr txBox="1"/>
          <p:nvPr/>
        </p:nvSpPr>
        <p:spPr>
          <a:xfrm>
            <a:off x="8678418" y="1463040"/>
            <a:ext cx="1243584" cy="141732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6</a:t>
            </a:r>
            <a:endParaRPr lang="en-US" sz="1400" dirty="0"/>
          </a:p>
          <a:p>
            <a:pPr indent="0" marL="0">
              <a:spcAft>
                <a:spcPts val="300"/>
              </a:spcAft>
              <a:buNone/>
            </a:pPr>
            <a:r>
              <a:rPr lang="en-US" sz="1400" b="1" dirty="0">
                <a:solidFill>
                  <a:schemeClr val="bg1"/>
                </a:solidFill>
              </a:rPr>
              <a:t>Evaluation</a:t>
            </a:r>
            <a:endParaRPr lang="en-US" sz="1400" dirty="0"/>
          </a:p>
          <a:p>
            <a:pPr indent="0" marL="0">
              <a:spcAft>
                <a:spcPts val="300"/>
              </a:spcAft>
              <a:buNone/>
            </a:pPr>
            <a:r>
              <a:rPr lang="en-US" sz="1200" dirty="0">
                <a:solidFill>
                  <a:schemeClr val="bg1"/>
                </a:solidFill>
              </a:rPr>
              <a:t>test split once, 95% intervals</a:t>
            </a:r>
            <a:endParaRPr lang="en-US" sz="1400" dirty="0"/>
          </a:p>
        </p:txBody>
      </p:sp>
      <p:sp>
        <p:nvSpPr>
          <p:cNvPr id="20" name="flow-6"/>
          <p:cNvSpPr/>
          <p:nvPr/>
        </p:nvSpPr>
        <p:spPr>
          <a:xfrm>
            <a:off x="10059162" y="2157984"/>
            <a:ext cx="84277" cy="0"/>
          </a:xfrm>
          <a:prstGeom prst="line">
            <a:avLst/>
          </a:prstGeom>
          <a:noFill/>
          <a:ln w="19050">
            <a:solidFill>
              <a:schemeClr val="accent4"/>
            </a:solidFill>
            <a:prstDash val="solid"/>
            <a:tailEnd type="triangle"/>
          </a:ln>
        </p:spPr>
      </p:sp>
      <p:sp>
        <p:nvSpPr>
          <p:cNvPr id="21" name="stage-7"/>
          <p:cNvSpPr/>
          <p:nvPr/>
        </p:nvSpPr>
        <p:spPr>
          <a:xfrm>
            <a:off x="10161727" y="1371600"/>
            <a:ext cx="1481328" cy="1572768"/>
          </a:xfrm>
          <a:prstGeom prst="roundRect">
            <a:avLst>
              <a:gd name="adj" fmla="val 6173"/>
            </a:avLst>
          </a:prstGeom>
          <a:solidFill>
            <a:schemeClr val="bg2"/>
          </a:solidFill>
          <a:ln w="12700">
            <a:solidFill>
              <a:schemeClr val="bg2"/>
            </a:solidFill>
            <a:prstDash val="solid"/>
          </a:ln>
        </p:spPr>
      </p:sp>
      <p:sp>
        <p:nvSpPr>
          <p:cNvPr id="22" name="Text 20"/>
          <p:cNvSpPr txBox="1"/>
          <p:nvPr/>
        </p:nvSpPr>
        <p:spPr>
          <a:xfrm>
            <a:off x="10280599" y="1463040"/>
            <a:ext cx="1243584" cy="141732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7</a:t>
            </a:r>
            <a:endParaRPr lang="en-US" sz="1400" dirty="0"/>
          </a:p>
          <a:p>
            <a:pPr indent="0" marL="0">
              <a:spcAft>
                <a:spcPts val="300"/>
              </a:spcAft>
              <a:buNone/>
            </a:pPr>
            <a:r>
              <a:rPr lang="en-US" sz="1400" b="1" dirty="0">
                <a:solidFill>
                  <a:schemeClr val="tx2"/>
                </a:solidFill>
              </a:rPr>
              <a:t>Retention</a:t>
            </a:r>
            <a:endParaRPr lang="en-US" sz="1400" dirty="0"/>
          </a:p>
          <a:p>
            <a:pPr indent="0" marL="0">
              <a:spcAft>
                <a:spcPts val="300"/>
              </a:spcAft>
              <a:buNone/>
            </a:pPr>
            <a:r>
              <a:rPr lang="en-US" sz="1200" dirty="0">
                <a:solidFill>
                  <a:schemeClr val="tx1"/>
                </a:solidFill>
              </a:rPr>
              <a:t>keep hashes and logs, delete checkpoints</a:t>
            </a:r>
            <a:endParaRPr lang="en-US" sz="1400" dirty="0"/>
          </a:p>
        </p:txBody>
      </p:sp>
      <p:sp>
        <p:nvSpPr>
          <p:cNvPr id="23" name="loop-down"/>
          <p:cNvSpPr/>
          <p:nvPr/>
        </p:nvSpPr>
        <p:spPr>
          <a:xfrm>
            <a:off x="9300210" y="2944368"/>
            <a:ext cx="0" cy="301752"/>
          </a:xfrm>
          <a:prstGeom prst="line">
            <a:avLst/>
          </a:prstGeom>
          <a:noFill/>
          <a:ln w="22225">
            <a:solidFill>
              <a:schemeClr val="accent1"/>
            </a:solidFill>
            <a:prstDash val="solid"/>
          </a:ln>
        </p:spPr>
      </p:sp>
      <p:sp>
        <p:nvSpPr>
          <p:cNvPr id="24" name="loop-across"/>
          <p:cNvSpPr/>
          <p:nvPr/>
        </p:nvSpPr>
        <p:spPr>
          <a:xfrm>
            <a:off x="2891485" y="3246120"/>
            <a:ext cx="6408725" cy="0"/>
          </a:xfrm>
          <a:prstGeom prst="line">
            <a:avLst/>
          </a:prstGeom>
          <a:noFill/>
          <a:ln w="22225">
            <a:solidFill>
              <a:schemeClr val="accent1"/>
            </a:solidFill>
            <a:prstDash val="solid"/>
          </a:ln>
        </p:spPr>
      </p:sp>
      <p:sp>
        <p:nvSpPr>
          <p:cNvPr id="25" name="loop-up"/>
          <p:cNvSpPr/>
          <p:nvPr/>
        </p:nvSpPr>
        <p:spPr>
          <a:xfrm flipV="1">
            <a:off x="2891485" y="2962656"/>
            <a:ext cx="0" cy="283464"/>
          </a:xfrm>
          <a:prstGeom prst="line">
            <a:avLst/>
          </a:prstGeom>
          <a:noFill/>
          <a:ln w="22225">
            <a:solidFill>
              <a:schemeClr val="accent1"/>
            </a:solidFill>
            <a:prstDash val="solid"/>
            <a:tailEnd type="triangle"/>
          </a:ln>
        </p:spPr>
      </p:sp>
      <p:sp>
        <p:nvSpPr>
          <p:cNvPr id="26" name="Text 24"/>
          <p:cNvSpPr txBox="1"/>
          <p:nvPr/>
        </p:nvSpPr>
        <p:spPr>
          <a:xfrm>
            <a:off x="3165805" y="3273552"/>
            <a:ext cx="5860085" cy="329184"/>
          </a:xfrm>
          <a:prstGeom prst="rect">
            <a:avLst/>
          </a:prstGeom>
          <a:noFill/>
          <a:ln/>
        </p:spPr>
        <p:txBody>
          <a:bodyPr wrap="square" lIns="0" tIns="0" rIns="0" bIns="0" rtlCol="0" anchor="ctr"/>
          <a:lstStyle/>
          <a:p>
            <a:pPr algn="ctr" indent="0" marL="0">
              <a:buNone/>
            </a:pPr>
            <a:r>
              <a:rPr lang="en-US" sz="1200" i="1" dirty="0">
                <a:solidFill>
                  <a:schemeClr val="accent1"/>
                </a:solidFill>
              </a:rPr>
              <a:t>what evaluation finds becomes a new quality rule (the leakage rule R5)</a:t>
            </a:r>
            <a:endParaRPr lang="en-US" sz="1200" dirty="0"/>
          </a:p>
        </p:txBody>
      </p:sp>
      <p:sp>
        <p:nvSpPr>
          <p:cNvPr id="27" name="Text 25"/>
          <p:cNvSpPr txBox="1"/>
          <p:nvPr/>
        </p:nvSpPr>
        <p:spPr>
          <a:xfrm>
            <a:off x="548640" y="3794760"/>
            <a:ext cx="7315200" cy="329184"/>
          </a:xfrm>
          <a:prstGeom prst="rect">
            <a:avLst/>
          </a:prstGeom>
          <a:noFill/>
          <a:ln/>
        </p:spPr>
        <p:txBody>
          <a:bodyPr wrap="square" lIns="0" tIns="0" rIns="0" bIns="0" rtlCol="0" anchor="ctr"/>
          <a:lstStyle/>
          <a:p>
            <a:pPr indent="0" marL="0">
              <a:buNone/>
            </a:pPr>
            <a:r>
              <a:rPr lang="en-US" sz="1500" b="1" dirty="0">
                <a:solidFill>
                  <a:schemeClr val="accent4"/>
                </a:solidFill>
              </a:rPr>
              <a:t>Information value chain (Lecture 1), with my example</a:t>
            </a:r>
            <a:endParaRPr lang="en-US" sz="1500" dirty="0"/>
          </a:p>
        </p:txBody>
      </p:sp>
      <p:sp>
        <p:nvSpPr>
          <p:cNvPr id="28" name="chain-1"/>
          <p:cNvSpPr/>
          <p:nvPr/>
        </p:nvSpPr>
        <p:spPr>
          <a:xfrm>
            <a:off x="548640" y="4206240"/>
            <a:ext cx="1700784" cy="566928"/>
          </a:xfrm>
          <a:prstGeom prst="homePlate">
            <a:avLst/>
          </a:prstGeom>
          <a:solidFill>
            <a:schemeClr val="accent1">
              <a:alpha val="12000"/>
            </a:schemeClr>
          </a:solidFill>
          <a:ln w="12700">
            <a:solidFill>
              <a:schemeClr val="bg1"/>
            </a:solidFill>
            <a:prstDash val="solid"/>
          </a:ln>
        </p:spPr>
      </p:sp>
      <p:sp>
        <p:nvSpPr>
          <p:cNvPr id="29" name="Text 27"/>
          <p:cNvSpPr txBox="1"/>
          <p:nvPr/>
        </p:nvSpPr>
        <p:spPr>
          <a:xfrm>
            <a:off x="640080" y="4206240"/>
            <a:ext cx="1197864" cy="566928"/>
          </a:xfrm>
          <a:prstGeom prst="rect">
            <a:avLst/>
          </a:prstGeom>
          <a:noFill/>
          <a:ln/>
        </p:spPr>
        <p:txBody>
          <a:bodyPr wrap="square" lIns="0" tIns="0" rIns="0" bIns="0" rtlCol="0" anchor="ctr"/>
          <a:lstStyle/>
          <a:p>
            <a:pPr algn="ctr" indent="0" marL="0">
              <a:buNone/>
            </a:pPr>
            <a:r>
              <a:rPr lang="en-US" sz="1300" b="1" dirty="0">
                <a:solidFill>
                  <a:schemeClr val="tx2"/>
                </a:solidFill>
              </a:rPr>
              <a:t>Raw data</a:t>
            </a:r>
            <a:endParaRPr lang="en-US" sz="1300" dirty="0"/>
          </a:p>
        </p:txBody>
      </p:sp>
      <p:sp>
        <p:nvSpPr>
          <p:cNvPr id="30" name="Text 28"/>
          <p:cNvSpPr txBox="1"/>
          <p:nvPr/>
        </p:nvSpPr>
        <p:spPr>
          <a:xfrm>
            <a:off x="640080" y="4864608"/>
            <a:ext cx="1474165" cy="1097280"/>
          </a:xfrm>
          <a:prstGeom prst="rect">
            <a:avLst/>
          </a:prstGeom>
          <a:noFill/>
          <a:ln/>
        </p:spPr>
        <p:txBody>
          <a:bodyPr wrap="square" lIns="0" tIns="0" rIns="0" bIns="0" rtlCol="0" anchor="t"/>
          <a:lstStyle/>
          <a:p>
            <a:pPr indent="0" marL="0">
              <a:buNone/>
            </a:pPr>
            <a:r>
              <a:rPr lang="en-US" sz="1200" dirty="0">
                <a:solidFill>
                  <a:schemeClr val="tx1"/>
                </a:solidFill>
              </a:rPr>
              <a:t>24,288 JSONL rows in two versions</a:t>
            </a:r>
            <a:endParaRPr lang="en-US" sz="1200" dirty="0"/>
          </a:p>
        </p:txBody>
      </p:sp>
      <p:sp>
        <p:nvSpPr>
          <p:cNvPr id="31" name="chain-2"/>
          <p:cNvSpPr/>
          <p:nvPr/>
        </p:nvSpPr>
        <p:spPr>
          <a:xfrm>
            <a:off x="2114245" y="4206240"/>
            <a:ext cx="1700784" cy="566928"/>
          </a:xfrm>
          <a:prstGeom prst="chevron">
            <a:avLst/>
          </a:prstGeom>
          <a:solidFill>
            <a:schemeClr val="accent1">
              <a:alpha val="20000"/>
            </a:schemeClr>
          </a:solidFill>
          <a:ln w="12700">
            <a:solidFill>
              <a:schemeClr val="bg1"/>
            </a:solidFill>
            <a:prstDash val="solid"/>
          </a:ln>
        </p:spPr>
      </p:sp>
      <p:sp>
        <p:nvSpPr>
          <p:cNvPr id="32" name="Text 30"/>
          <p:cNvSpPr txBox="1"/>
          <p:nvPr/>
        </p:nvSpPr>
        <p:spPr>
          <a:xfrm>
            <a:off x="2388565" y="4206240"/>
            <a:ext cx="1197864" cy="566928"/>
          </a:xfrm>
          <a:prstGeom prst="rect">
            <a:avLst/>
          </a:prstGeom>
          <a:noFill/>
          <a:ln/>
        </p:spPr>
        <p:txBody>
          <a:bodyPr wrap="square" lIns="0" tIns="0" rIns="0" bIns="0" rtlCol="0" anchor="ctr"/>
          <a:lstStyle/>
          <a:p>
            <a:pPr algn="ctr" indent="0" marL="0">
              <a:buNone/>
            </a:pPr>
            <a:r>
              <a:rPr lang="en-US" sz="1300" b="1" dirty="0">
                <a:solidFill>
                  <a:schemeClr val="tx2"/>
                </a:solidFill>
              </a:rPr>
              <a:t>Processed</a:t>
            </a:r>
            <a:endParaRPr lang="en-US" sz="1300" dirty="0"/>
          </a:p>
        </p:txBody>
      </p:sp>
      <p:sp>
        <p:nvSpPr>
          <p:cNvPr id="33" name="Text 31"/>
          <p:cNvSpPr txBox="1"/>
          <p:nvPr/>
        </p:nvSpPr>
        <p:spPr>
          <a:xfrm>
            <a:off x="2205685" y="4864608"/>
            <a:ext cx="1474165" cy="1097280"/>
          </a:xfrm>
          <a:prstGeom prst="rect">
            <a:avLst/>
          </a:prstGeom>
          <a:noFill/>
          <a:ln/>
        </p:spPr>
        <p:txBody>
          <a:bodyPr wrap="square" lIns="0" tIns="0" rIns="0" bIns="0" rtlCol="0" anchor="t"/>
          <a:lstStyle/>
          <a:p>
            <a:pPr indent="0" marL="0">
              <a:buNone/>
            </a:pPr>
            <a:r>
              <a:rPr lang="en-US" sz="1200" dirty="0">
                <a:solidFill>
                  <a:schemeClr val="tx1"/>
                </a:solidFill>
              </a:rPr>
              <a:t>22,877 clean functions</a:t>
            </a:r>
            <a:endParaRPr lang="en-US" sz="1200" dirty="0"/>
          </a:p>
        </p:txBody>
      </p:sp>
      <p:sp>
        <p:nvSpPr>
          <p:cNvPr id="34" name="chain-3"/>
          <p:cNvSpPr/>
          <p:nvPr/>
        </p:nvSpPr>
        <p:spPr>
          <a:xfrm>
            <a:off x="3679850" y="4206240"/>
            <a:ext cx="1700784" cy="566928"/>
          </a:xfrm>
          <a:prstGeom prst="chevron">
            <a:avLst/>
          </a:prstGeom>
          <a:solidFill>
            <a:schemeClr val="accent1">
              <a:alpha val="30000"/>
            </a:schemeClr>
          </a:solidFill>
          <a:ln w="12700">
            <a:solidFill>
              <a:schemeClr val="bg1"/>
            </a:solidFill>
            <a:prstDash val="solid"/>
          </a:ln>
        </p:spPr>
      </p:sp>
      <p:sp>
        <p:nvSpPr>
          <p:cNvPr id="35" name="Text 33"/>
          <p:cNvSpPr txBox="1"/>
          <p:nvPr/>
        </p:nvSpPr>
        <p:spPr>
          <a:xfrm>
            <a:off x="3954170" y="4206240"/>
            <a:ext cx="1197864" cy="566928"/>
          </a:xfrm>
          <a:prstGeom prst="rect">
            <a:avLst/>
          </a:prstGeom>
          <a:noFill/>
          <a:ln/>
        </p:spPr>
        <p:txBody>
          <a:bodyPr wrap="square" lIns="0" tIns="0" rIns="0" bIns="0" rtlCol="0" anchor="ctr"/>
          <a:lstStyle/>
          <a:p>
            <a:pPr algn="ctr" indent="0" marL="0">
              <a:buNone/>
            </a:pPr>
            <a:r>
              <a:rPr lang="en-US" sz="1300" b="1" dirty="0">
                <a:solidFill>
                  <a:schemeClr val="tx2"/>
                </a:solidFill>
              </a:rPr>
              <a:t>Information</a:t>
            </a:r>
            <a:endParaRPr lang="en-US" sz="1300" dirty="0"/>
          </a:p>
        </p:txBody>
      </p:sp>
      <p:sp>
        <p:nvSpPr>
          <p:cNvPr id="36" name="Text 34"/>
          <p:cNvSpPr txBox="1"/>
          <p:nvPr/>
        </p:nvSpPr>
        <p:spPr>
          <a:xfrm>
            <a:off x="3771290" y="4864608"/>
            <a:ext cx="1474165" cy="1097280"/>
          </a:xfrm>
          <a:prstGeom prst="rect">
            <a:avLst/>
          </a:prstGeom>
          <a:noFill/>
          <a:ln/>
        </p:spPr>
        <p:txBody>
          <a:bodyPr wrap="square" lIns="0" tIns="0" rIns="0" bIns="0" rtlCol="0" anchor="t"/>
          <a:lstStyle/>
          <a:p>
            <a:pPr indent="0" marL="0">
              <a:buNone/>
            </a:pPr>
            <a:r>
              <a:rPr lang="en-US" sz="1200" dirty="0">
                <a:solidFill>
                  <a:schemeClr val="tx1"/>
                </a:solidFill>
              </a:rPr>
              <a:t>1 vulnerable in 35; P3 code is short</a:t>
            </a:r>
            <a:endParaRPr lang="en-US" sz="1200" dirty="0"/>
          </a:p>
        </p:txBody>
      </p:sp>
      <p:sp>
        <p:nvSpPr>
          <p:cNvPr id="37" name="chain-4"/>
          <p:cNvSpPr/>
          <p:nvPr/>
        </p:nvSpPr>
        <p:spPr>
          <a:xfrm>
            <a:off x="5245456" y="4206240"/>
            <a:ext cx="1700784" cy="566928"/>
          </a:xfrm>
          <a:prstGeom prst="chevron">
            <a:avLst/>
          </a:prstGeom>
          <a:solidFill>
            <a:schemeClr val="accent1">
              <a:alpha val="42000"/>
            </a:schemeClr>
          </a:solidFill>
          <a:ln w="12700">
            <a:solidFill>
              <a:schemeClr val="bg1"/>
            </a:solidFill>
            <a:prstDash val="solid"/>
          </a:ln>
        </p:spPr>
      </p:sp>
      <p:sp>
        <p:nvSpPr>
          <p:cNvPr id="38" name="Text 36"/>
          <p:cNvSpPr txBox="1"/>
          <p:nvPr/>
        </p:nvSpPr>
        <p:spPr>
          <a:xfrm>
            <a:off x="5519776" y="4206240"/>
            <a:ext cx="1197864" cy="566928"/>
          </a:xfrm>
          <a:prstGeom prst="rect">
            <a:avLst/>
          </a:prstGeom>
          <a:noFill/>
          <a:ln/>
        </p:spPr>
        <p:txBody>
          <a:bodyPr wrap="square" lIns="0" tIns="0" rIns="0" bIns="0" rtlCol="0" anchor="ctr"/>
          <a:lstStyle/>
          <a:p>
            <a:pPr algn="ctr" indent="0" marL="0">
              <a:buNone/>
            </a:pPr>
            <a:r>
              <a:rPr lang="en-US" sz="1300" b="1" dirty="0">
                <a:solidFill>
                  <a:schemeClr val="tx2"/>
                </a:solidFill>
              </a:rPr>
              <a:t>Knowledge</a:t>
            </a:r>
            <a:endParaRPr lang="en-US" sz="1300" dirty="0"/>
          </a:p>
        </p:txBody>
      </p:sp>
      <p:sp>
        <p:nvSpPr>
          <p:cNvPr id="39" name="Text 37"/>
          <p:cNvSpPr txBox="1"/>
          <p:nvPr/>
        </p:nvSpPr>
        <p:spPr>
          <a:xfrm>
            <a:off x="5336896" y="4864608"/>
            <a:ext cx="1474165" cy="1097280"/>
          </a:xfrm>
          <a:prstGeom prst="rect">
            <a:avLst/>
          </a:prstGeom>
          <a:noFill/>
          <a:ln/>
        </p:spPr>
        <p:txBody>
          <a:bodyPr wrap="square" lIns="0" tIns="0" rIns="0" bIns="0" rtlCol="0" anchor="t"/>
          <a:lstStyle/>
          <a:p>
            <a:pPr indent="0" marL="0">
              <a:buNone/>
            </a:pPr>
            <a:r>
              <a:rPr lang="en-US" sz="1200" dirty="0">
                <a:solidFill>
                  <a:schemeClr val="tx1"/>
                </a:solidFill>
              </a:rPr>
              <a:t>trained model, metrics with intervals</a:t>
            </a:r>
            <a:endParaRPr lang="en-US" sz="1200" dirty="0"/>
          </a:p>
        </p:txBody>
      </p:sp>
      <p:sp>
        <p:nvSpPr>
          <p:cNvPr id="40" name="chain-5"/>
          <p:cNvSpPr/>
          <p:nvPr/>
        </p:nvSpPr>
        <p:spPr>
          <a:xfrm>
            <a:off x="6811061" y="4206240"/>
            <a:ext cx="1700784" cy="566928"/>
          </a:xfrm>
          <a:prstGeom prst="chevron">
            <a:avLst/>
          </a:prstGeom>
          <a:solidFill>
            <a:schemeClr val="accent1">
              <a:alpha val="56000"/>
            </a:schemeClr>
          </a:solidFill>
          <a:ln w="12700">
            <a:solidFill>
              <a:schemeClr val="bg1"/>
            </a:solidFill>
            <a:prstDash val="solid"/>
          </a:ln>
        </p:spPr>
      </p:sp>
      <p:sp>
        <p:nvSpPr>
          <p:cNvPr id="41" name="Text 39"/>
          <p:cNvSpPr txBox="1"/>
          <p:nvPr/>
        </p:nvSpPr>
        <p:spPr>
          <a:xfrm>
            <a:off x="7085381" y="4206240"/>
            <a:ext cx="1197864" cy="566928"/>
          </a:xfrm>
          <a:prstGeom prst="rect">
            <a:avLst/>
          </a:prstGeom>
          <a:noFill/>
          <a:ln/>
        </p:spPr>
        <p:txBody>
          <a:bodyPr wrap="square" lIns="0" tIns="0" rIns="0" bIns="0" rtlCol="0" anchor="ctr"/>
          <a:lstStyle/>
          <a:p>
            <a:pPr algn="ctr" indent="0" marL="0">
              <a:buNone/>
            </a:pPr>
            <a:r>
              <a:rPr lang="en-US" sz="1300" b="1" dirty="0">
                <a:solidFill>
                  <a:schemeClr val="tx2"/>
                </a:solidFill>
              </a:rPr>
              <a:t>Insights</a:t>
            </a:r>
            <a:endParaRPr lang="en-US" sz="1300" dirty="0"/>
          </a:p>
        </p:txBody>
      </p:sp>
      <p:sp>
        <p:nvSpPr>
          <p:cNvPr id="42" name="Text 40"/>
          <p:cNvSpPr txBox="1"/>
          <p:nvPr/>
        </p:nvSpPr>
        <p:spPr>
          <a:xfrm>
            <a:off x="6902501" y="4864608"/>
            <a:ext cx="1474165" cy="1097280"/>
          </a:xfrm>
          <a:prstGeom prst="rect">
            <a:avLst/>
          </a:prstGeom>
          <a:noFill/>
          <a:ln/>
        </p:spPr>
        <p:txBody>
          <a:bodyPr wrap="square" lIns="0" tIns="0" rIns="0" bIns="0" rtlCol="0" anchor="t"/>
          <a:lstStyle/>
          <a:p>
            <a:pPr indent="0" marL="0">
              <a:buNone/>
            </a:pPr>
            <a:r>
              <a:rPr lang="en-US" sz="1200" dirty="0">
                <a:solidFill>
                  <a:schemeClr val="tx1"/>
                </a:solidFill>
              </a:rPr>
              <a:t>it spots fix-touched code, not the bug</a:t>
            </a:r>
            <a:endParaRPr lang="en-US" sz="1200" dirty="0"/>
          </a:p>
        </p:txBody>
      </p:sp>
      <p:sp>
        <p:nvSpPr>
          <p:cNvPr id="43" name="chain-6"/>
          <p:cNvSpPr/>
          <p:nvPr/>
        </p:nvSpPr>
        <p:spPr>
          <a:xfrm>
            <a:off x="8376666" y="4206240"/>
            <a:ext cx="1700784" cy="566928"/>
          </a:xfrm>
          <a:prstGeom prst="chevron">
            <a:avLst/>
          </a:prstGeom>
          <a:solidFill>
            <a:schemeClr val="accent1">
              <a:alpha val="72000"/>
            </a:schemeClr>
          </a:solidFill>
          <a:ln w="12700">
            <a:solidFill>
              <a:schemeClr val="bg1"/>
            </a:solidFill>
            <a:prstDash val="solid"/>
          </a:ln>
        </p:spPr>
      </p:sp>
      <p:sp>
        <p:nvSpPr>
          <p:cNvPr id="44" name="Text 42"/>
          <p:cNvSpPr txBox="1"/>
          <p:nvPr/>
        </p:nvSpPr>
        <p:spPr>
          <a:xfrm>
            <a:off x="8650986" y="4206240"/>
            <a:ext cx="1197864" cy="566928"/>
          </a:xfrm>
          <a:prstGeom prst="rect">
            <a:avLst/>
          </a:prstGeom>
          <a:noFill/>
          <a:ln/>
        </p:spPr>
        <p:txBody>
          <a:bodyPr wrap="square" lIns="0" tIns="0" rIns="0" bIns="0" rtlCol="0" anchor="ctr"/>
          <a:lstStyle/>
          <a:p>
            <a:pPr algn="ctr" indent="0" marL="0">
              <a:buNone/>
            </a:pPr>
            <a:r>
              <a:rPr lang="en-US" sz="1300" b="1" dirty="0">
                <a:solidFill>
                  <a:schemeClr val="bg1"/>
                </a:solidFill>
              </a:rPr>
              <a:t>Decisions</a:t>
            </a:r>
            <a:endParaRPr lang="en-US" sz="1300" dirty="0"/>
          </a:p>
        </p:txBody>
      </p:sp>
      <p:sp>
        <p:nvSpPr>
          <p:cNvPr id="45" name="Text 43"/>
          <p:cNvSpPr txBox="1"/>
          <p:nvPr/>
        </p:nvSpPr>
        <p:spPr>
          <a:xfrm>
            <a:off x="8468106" y="4864608"/>
            <a:ext cx="1474165" cy="1097280"/>
          </a:xfrm>
          <a:prstGeom prst="rect">
            <a:avLst/>
          </a:prstGeom>
          <a:noFill/>
          <a:ln/>
        </p:spPr>
        <p:txBody>
          <a:bodyPr wrap="square" lIns="0" tIns="0" rIns="0" bIns="0" rtlCol="0" anchor="t"/>
          <a:lstStyle/>
          <a:p>
            <a:pPr indent="0" marL="0">
              <a:buNone/>
            </a:pPr>
            <a:r>
              <a:rPr lang="en-US" sz="1200" dirty="0">
                <a:solidFill>
                  <a:schemeClr val="tx1"/>
                </a:solidFill>
              </a:rPr>
              <a:t>review top-scored code first; never a gate</a:t>
            </a:r>
            <a:endParaRPr lang="en-US" sz="1200" dirty="0"/>
          </a:p>
        </p:txBody>
      </p:sp>
      <p:sp>
        <p:nvSpPr>
          <p:cNvPr id="46" name="chain-7"/>
          <p:cNvSpPr/>
          <p:nvPr/>
        </p:nvSpPr>
        <p:spPr>
          <a:xfrm>
            <a:off x="9942271" y="4206240"/>
            <a:ext cx="1700784" cy="566928"/>
          </a:xfrm>
          <a:prstGeom prst="chevron">
            <a:avLst/>
          </a:prstGeom>
          <a:solidFill>
            <a:schemeClr val="accent1"/>
          </a:solidFill>
          <a:ln w="12700">
            <a:solidFill>
              <a:schemeClr val="bg1"/>
            </a:solidFill>
            <a:prstDash val="solid"/>
          </a:ln>
        </p:spPr>
      </p:sp>
      <p:sp>
        <p:nvSpPr>
          <p:cNvPr id="47" name="Text 45"/>
          <p:cNvSpPr txBox="1"/>
          <p:nvPr/>
        </p:nvSpPr>
        <p:spPr>
          <a:xfrm>
            <a:off x="10216591" y="4206240"/>
            <a:ext cx="1197864" cy="566928"/>
          </a:xfrm>
          <a:prstGeom prst="rect">
            <a:avLst/>
          </a:prstGeom>
          <a:noFill/>
          <a:ln/>
        </p:spPr>
        <p:txBody>
          <a:bodyPr wrap="square" lIns="0" tIns="0" rIns="0" bIns="0" rtlCol="0" anchor="ctr"/>
          <a:lstStyle/>
          <a:p>
            <a:pPr algn="ctr" indent="0" marL="0">
              <a:buNone/>
            </a:pPr>
            <a:r>
              <a:rPr lang="en-US" sz="1300" b="1" dirty="0">
                <a:solidFill>
                  <a:schemeClr val="bg1"/>
                </a:solidFill>
              </a:rPr>
              <a:t>Value</a:t>
            </a:r>
            <a:endParaRPr lang="en-US" sz="1300" dirty="0"/>
          </a:p>
        </p:txBody>
      </p:sp>
      <p:sp>
        <p:nvSpPr>
          <p:cNvPr id="48" name="Text 46"/>
          <p:cNvSpPr txBox="1"/>
          <p:nvPr/>
        </p:nvSpPr>
        <p:spPr>
          <a:xfrm>
            <a:off x="10033711" y="4864608"/>
            <a:ext cx="1474165" cy="1097280"/>
          </a:xfrm>
          <a:prstGeom prst="rect">
            <a:avLst/>
          </a:prstGeom>
          <a:noFill/>
          <a:ln/>
        </p:spPr>
        <p:txBody>
          <a:bodyPr wrap="square" lIns="0" tIns="0" rIns="0" bIns="0" rtlCol="0" anchor="t"/>
          <a:lstStyle/>
          <a:p>
            <a:pPr indent="0" marL="0">
              <a:buNone/>
            </a:pPr>
            <a:r>
              <a:rPr lang="en-US" sz="1200" dirty="0">
                <a:solidFill>
                  <a:schemeClr val="tx1"/>
                </a:solidFill>
              </a:rPr>
              <a:t>fewer review hours per real vulnerability</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One warehouse, built from my ER model</a:t>
            </a:r>
            <a:endParaRPr lang="en-US" sz="3400" dirty="0"/>
          </a:p>
        </p:txBody>
      </p:sp>
      <p:pic>
        <p:nvPicPr>
          <p:cNvPr id="3" name="er-diagram" descr="ER model: dataset version, Java function, label partition, CWE, commit, quality issue, experiment run, prediction, metric">    </p:cNvPr>
          <p:cNvPicPr>
            <a:picLocks noChangeAspect="1"/>
          </p:cNvPicPr>
          <p:nvPr/>
        </p:nvPicPr>
        <p:blipFill>
          <a:blip r:embed="rId1"/>
          <a:stretch>
            <a:fillRect/>
          </a:stretch>
        </p:blipFill>
        <p:spPr>
          <a:xfrm>
            <a:off x="548640" y="1325880"/>
            <a:ext cx="7040880" cy="4534804"/>
          </a:xfrm>
          <a:prstGeom prst="rect">
            <a:avLst/>
          </a:prstGeom>
        </p:spPr>
      </p:pic>
      <p:sp>
        <p:nvSpPr>
          <p:cNvPr id="4" name="icon-circle"/>
          <p:cNvSpPr/>
          <p:nvPr/>
        </p:nvSpPr>
        <p:spPr>
          <a:xfrm>
            <a:off x="8001000" y="1463040"/>
            <a:ext cx="566928" cy="566928"/>
          </a:xfrm>
          <a:prstGeom prst="ellipse">
            <a:avLst/>
          </a:prstGeom>
          <a:solidFill>
            <a:schemeClr val="tx2"/>
          </a:solidFill>
          <a:ln w="12700">
            <a:solidFill>
              <a:schemeClr val="tx2"/>
            </a:solidFill>
            <a:prstDash val="solid"/>
          </a:ln>
        </p:spPr>
      </p:sp>
      <p:pic>
        <p:nvPicPr>
          <p:cNvPr id="5" name="icon" descr="preencoded.png">    </p:cNvPr>
          <p:cNvPicPr>
            <a:picLocks noChangeAspect="1"/>
          </p:cNvPicPr>
          <p:nvPr/>
        </p:nvPicPr>
        <p:blipFill>
          <a:blip r:embed="rId2"/>
          <a:stretch>
            <a:fillRect/>
          </a:stretch>
        </p:blipFill>
        <p:spPr>
          <a:xfrm>
            <a:off x="8137063" y="1599103"/>
            <a:ext cx="294803" cy="294803"/>
          </a:xfrm>
          <a:prstGeom prst="rect">
            <a:avLst/>
          </a:prstGeom>
        </p:spPr>
      </p:pic>
      <p:sp>
        <p:nvSpPr>
          <p:cNvPr id="6" name="Text 2"/>
          <p:cNvSpPr txBox="1"/>
          <p:nvPr/>
        </p:nvSpPr>
        <p:spPr>
          <a:xfrm>
            <a:off x="8769096" y="1408176"/>
            <a:ext cx="2873959" cy="10972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9 tables, keys enforced</a:t>
            </a:r>
            <a:endParaRPr lang="en-US" sz="1600" dirty="0"/>
          </a:p>
          <a:p>
            <a:pPr indent="0" marL="0">
              <a:spcAft>
                <a:spcPts val="200"/>
              </a:spcAft>
              <a:buNone/>
            </a:pPr>
            <a:r>
              <a:rPr lang="en-US" sz="1400" dirty="0">
                <a:solidFill>
                  <a:schemeClr val="tx1"/>
                </a:solidFill>
              </a:rPr>
              <a:t>Every entity of the model is one SQLite table. Foreign keys and CHECK rules refuse bad rows.</a:t>
            </a:r>
            <a:endParaRPr lang="en-US" sz="1600" dirty="0"/>
          </a:p>
        </p:txBody>
      </p:sp>
      <p:sp>
        <p:nvSpPr>
          <p:cNvPr id="7" name="icon-circle"/>
          <p:cNvSpPr/>
          <p:nvPr/>
        </p:nvSpPr>
        <p:spPr>
          <a:xfrm>
            <a:off x="8001000" y="2788920"/>
            <a:ext cx="566928" cy="566928"/>
          </a:xfrm>
          <a:prstGeom prst="ellipse">
            <a:avLst/>
          </a:prstGeom>
          <a:solidFill>
            <a:schemeClr val="tx2"/>
          </a:solidFill>
          <a:ln w="12700">
            <a:solidFill>
              <a:schemeClr val="tx2"/>
            </a:solidFill>
            <a:prstDash val="solid"/>
          </a:ln>
        </p:spPr>
      </p:sp>
      <p:pic>
        <p:nvPicPr>
          <p:cNvPr id="8" name="icon" descr="preencoded.png">    </p:cNvPr>
          <p:cNvPicPr>
            <a:picLocks noChangeAspect="1"/>
          </p:cNvPicPr>
          <p:nvPr/>
        </p:nvPicPr>
        <p:blipFill>
          <a:blip r:embed="rId3"/>
          <a:stretch>
            <a:fillRect/>
          </a:stretch>
        </p:blipFill>
        <p:spPr>
          <a:xfrm>
            <a:off x="8137063" y="2924983"/>
            <a:ext cx="294803" cy="294803"/>
          </a:xfrm>
          <a:prstGeom prst="rect">
            <a:avLst/>
          </a:prstGeom>
        </p:spPr>
      </p:pic>
      <p:sp>
        <p:nvSpPr>
          <p:cNvPr id="9" name="Text 4"/>
          <p:cNvSpPr txBox="1"/>
          <p:nvPr/>
        </p:nvSpPr>
        <p:spPr>
          <a:xfrm>
            <a:off x="8769096" y="2734056"/>
            <a:ext cx="2873959" cy="10972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The label is stored once</a:t>
            </a:r>
            <a:endParaRPr lang="en-US" sz="1600" dirty="0"/>
          </a:p>
          <a:p>
            <a:pPr indent="0" marL="0">
              <a:spcAft>
                <a:spcPts val="200"/>
              </a:spcAft>
              <a:buNone/>
            </a:pPr>
            <a:r>
              <a:rPr lang="en-US" sz="1400" dirty="0">
                <a:solidFill>
                  <a:schemeClr val="tx1"/>
                </a:solidFill>
              </a:rPr>
              <a:t>The status already decides the label, so it lives in label_partition (third normal form).</a:t>
            </a:r>
            <a:endParaRPr lang="en-US" sz="1600" dirty="0"/>
          </a:p>
        </p:txBody>
      </p:sp>
      <p:sp>
        <p:nvSpPr>
          <p:cNvPr id="10" name="icon-circle"/>
          <p:cNvSpPr/>
          <p:nvPr/>
        </p:nvSpPr>
        <p:spPr>
          <a:xfrm>
            <a:off x="8001000" y="4114800"/>
            <a:ext cx="566928" cy="566928"/>
          </a:xfrm>
          <a:prstGeom prst="ellipse">
            <a:avLst/>
          </a:prstGeom>
          <a:solidFill>
            <a:schemeClr val="tx2"/>
          </a:solidFill>
          <a:ln w="12700">
            <a:solidFill>
              <a:schemeClr val="tx2"/>
            </a:solidFill>
            <a:prstDash val="solid"/>
          </a:ln>
        </p:spPr>
      </p:sp>
      <p:pic>
        <p:nvPicPr>
          <p:cNvPr id="11" name="icon" descr="preencoded.png">    </p:cNvPr>
          <p:cNvPicPr>
            <a:picLocks noChangeAspect="1"/>
          </p:cNvPicPr>
          <p:nvPr/>
        </p:nvPicPr>
        <p:blipFill>
          <a:blip r:embed="rId4"/>
          <a:stretch>
            <a:fillRect/>
          </a:stretch>
        </p:blipFill>
        <p:spPr>
          <a:xfrm>
            <a:off x="8137063" y="4250863"/>
            <a:ext cx="294803" cy="294803"/>
          </a:xfrm>
          <a:prstGeom prst="rect">
            <a:avLst/>
          </a:prstGeom>
        </p:spPr>
      </p:pic>
      <p:sp>
        <p:nvSpPr>
          <p:cNvPr id="12" name="Text 6"/>
          <p:cNvSpPr txBox="1"/>
          <p:nvPr/>
        </p:nvSpPr>
        <p:spPr>
          <a:xfrm>
            <a:off x="8769096" y="4059936"/>
            <a:ext cx="2873959" cy="11887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Training reads SQL, results come back</a:t>
            </a:r>
            <a:endParaRPr lang="en-US" sz="1600" dirty="0"/>
          </a:p>
          <a:p>
            <a:pPr indent="0" marL="0">
              <a:spcAft>
                <a:spcPts val="200"/>
              </a:spcAft>
              <a:buNone/>
            </a:pPr>
            <a:r>
              <a:rPr lang="en-US" sz="1400" dirty="0">
                <a:solidFill>
                  <a:schemeClr val="tx1"/>
                </a:solidFill>
              </a:rPr>
              <a:t>train.py reads the view model_input; evaluate.py writes runs, predictions and metrics back.</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Clean format, problems in meaning</a:t>
            </a:r>
            <a:endParaRPr lang="en-US" sz="3400" dirty="0"/>
          </a:p>
        </p:txBody>
      </p:sp>
      <p:sp>
        <p:nvSpPr>
          <p:cNvPr id="3" name="Text 1"/>
          <p:cNvSpPr txBox="1"/>
          <p:nvPr/>
        </p:nvSpPr>
        <p:spPr>
          <a:xfrm>
            <a:off x="548640" y="1417320"/>
            <a:ext cx="160020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41</a:t>
            </a:r>
            <a:endParaRPr lang="en-US" sz="4800" dirty="0"/>
          </a:p>
        </p:txBody>
      </p:sp>
      <p:sp>
        <p:nvSpPr>
          <p:cNvPr id="4" name="Text 2"/>
          <p:cNvSpPr txBox="1"/>
          <p:nvPr/>
        </p:nvSpPr>
        <p:spPr>
          <a:xfrm>
            <a:off x="2240280" y="1490472"/>
            <a:ext cx="3931920" cy="1280160"/>
          </a:xfrm>
          <a:prstGeom prst="rect">
            <a:avLst/>
          </a:prstGeom>
          <a:noFill/>
          <a:ln/>
        </p:spPr>
        <p:txBody>
          <a:bodyPr wrap="square" lIns="0" tIns="0" rIns="0" bIns="0" rtlCol="0" anchor="t"/>
          <a:lstStyle/>
          <a:p>
            <a:pPr indent="0" marL="0">
              <a:buNone/>
            </a:pPr>
            <a:r>
              <a:rPr lang="en-US" sz="1500" dirty="0">
                <a:solidFill>
                  <a:schemeClr val="tx1"/>
                </a:solidFill>
              </a:rPr>
              <a:t>rows quarantined: 19 functions have one label in one dataset version and the other label in the other</a:t>
            </a:r>
            <a:endParaRPr lang="en-US" sz="1500" dirty="0"/>
          </a:p>
        </p:txBody>
      </p:sp>
      <p:sp>
        <p:nvSpPr>
          <p:cNvPr id="5" name="Text 3"/>
          <p:cNvSpPr txBox="1"/>
          <p:nvPr/>
        </p:nvSpPr>
        <p:spPr>
          <a:xfrm>
            <a:off x="548640" y="2990088"/>
            <a:ext cx="160020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33</a:t>
            </a:r>
            <a:endParaRPr lang="en-US" sz="4800" dirty="0"/>
          </a:p>
        </p:txBody>
      </p:sp>
      <p:sp>
        <p:nvSpPr>
          <p:cNvPr id="6" name="Text 4"/>
          <p:cNvSpPr txBox="1"/>
          <p:nvPr/>
        </p:nvSpPr>
        <p:spPr>
          <a:xfrm>
            <a:off x="2240280" y="3063240"/>
            <a:ext cx="3931920" cy="1280160"/>
          </a:xfrm>
          <a:prstGeom prst="rect">
            <a:avLst/>
          </a:prstGeom>
          <a:noFill/>
          <a:ln/>
        </p:spPr>
        <p:txBody>
          <a:bodyPr wrap="square" lIns="0" tIns="0" rIns="0" bIns="0" rtlCol="0" anchor="t"/>
          <a:lstStyle/>
          <a:p>
            <a:pPr indent="0" marL="0">
              <a:buNone/>
            </a:pPr>
            <a:r>
              <a:rPr lang="en-US" sz="1500" dirty="0">
                <a:solidFill>
                  <a:schemeClr val="tx1"/>
                </a:solidFill>
              </a:rPr>
              <a:t>validation or test rows were copies of training code: removed, so no model is tested on code it has seen</a:t>
            </a:r>
            <a:endParaRPr lang="en-US" sz="1500" dirty="0"/>
          </a:p>
        </p:txBody>
      </p:sp>
      <p:sp>
        <p:nvSpPr>
          <p:cNvPr id="7" name="Text 5"/>
          <p:cNvSpPr txBox="1"/>
          <p:nvPr/>
        </p:nvSpPr>
        <p:spPr>
          <a:xfrm>
            <a:off x="548640" y="4562856"/>
            <a:ext cx="160020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50%</a:t>
            </a:r>
            <a:endParaRPr lang="en-US" sz="4800" dirty="0"/>
          </a:p>
        </p:txBody>
      </p:sp>
      <p:sp>
        <p:nvSpPr>
          <p:cNvPr id="8" name="Text 6"/>
          <p:cNvSpPr txBox="1"/>
          <p:nvPr/>
        </p:nvSpPr>
        <p:spPr>
          <a:xfrm>
            <a:off x="2240280" y="4636008"/>
            <a:ext cx="3931920" cy="1280160"/>
          </a:xfrm>
          <a:prstGeom prst="rect">
            <a:avLst/>
          </a:prstGeom>
          <a:noFill/>
          <a:ln/>
        </p:spPr>
        <p:txBody>
          <a:bodyPr wrap="square" lIns="0" tIns="0" rIns="0" bIns="0" rtlCol="0" anchor="t"/>
          <a:lstStyle/>
          <a:p>
            <a:pPr indent="0" marL="0">
              <a:buNone/>
            </a:pPr>
            <a:r>
              <a:rPr lang="en-US" sz="1500" dirty="0">
                <a:solidFill>
                  <a:schemeClr val="tx1"/>
                </a:solidFill>
              </a:rPr>
              <a:t>of vulnerable and fixed functions are longer than 512 tokens: CodeBERT never sees their end</a:t>
            </a:r>
            <a:endParaRPr lang="en-US" sz="1500" dirty="0"/>
          </a:p>
        </p:txBody>
      </p:sp>
      <p:graphicFrame>
        <p:nvGraphicFramePr>
          <p:cNvPr id="9" name="Chart 0" descr=""/>
          <p:cNvGraphicFramePr/>
          <p:nvPr/>
        </p:nvGraphicFramePr>
        <p:xfrm>
          <a:off x="6400800" y="1371600"/>
          <a:ext cx="5242255" cy="40233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6400800" y="5486400"/>
            <a:ext cx="5242255" cy="685800"/>
          </a:xfrm>
          <a:prstGeom prst="rect">
            <a:avLst/>
          </a:prstGeom>
          <a:noFill/>
          <a:ln/>
        </p:spPr>
        <p:txBody>
          <a:bodyPr wrap="square" lIns="0" tIns="0" rIns="0" bIns="0" rtlCol="0" anchor="ctr"/>
          <a:lstStyle/>
          <a:p>
            <a:pPr indent="0" marL="0">
              <a:buNone/>
            </a:pPr>
            <a:r>
              <a:rPr lang="en-US" sz="1300" i="1" dirty="0">
                <a:solidFill>
                  <a:schemeClr val="accent4"/>
                </a:solidFill>
              </a:rPr>
              <a:t>Median length: 476 tokens (vulnerable), 540 (fixed), 90 (unchanged). Short unchanged code makes length alone a strong clue.</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The system and its controls</a:t>
            </a:r>
            <a:endParaRPr lang="en-US" sz="3400" dirty="0"/>
          </a:p>
        </p:txBody>
      </p:sp>
      <p:sp>
        <p:nvSpPr>
          <p:cNvPr id="3" name="Text 1"/>
          <p:cNvSpPr txBox="1"/>
          <p:nvPr/>
        </p:nvSpPr>
        <p:spPr>
          <a:xfrm>
            <a:off x="548640" y="1325880"/>
            <a:ext cx="1938528"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SOURCES</a:t>
            </a:r>
            <a:endParaRPr lang="en-US" sz="1100" dirty="0"/>
          </a:p>
        </p:txBody>
      </p:sp>
      <p:sp>
        <p:nvSpPr>
          <p:cNvPr id="4" name="arch-0-0"/>
          <p:cNvSpPr/>
          <p:nvPr/>
        </p:nvSpPr>
        <p:spPr>
          <a:xfrm>
            <a:off x="548640" y="1801368"/>
            <a:ext cx="1938528" cy="877824"/>
          </a:xfrm>
          <a:prstGeom prst="roundRect">
            <a:avLst>
              <a:gd name="adj" fmla="val 8333"/>
            </a:avLst>
          </a:prstGeom>
          <a:solidFill>
            <a:schemeClr val="bg2"/>
          </a:solidFill>
          <a:ln w="12700">
            <a:solidFill>
              <a:schemeClr val="bg2"/>
            </a:solidFill>
            <a:prstDash val="solid"/>
          </a:ln>
        </p:spPr>
      </p:sp>
      <p:sp>
        <p:nvSpPr>
          <p:cNvPr id="5" name="Text 3"/>
          <p:cNvSpPr txBox="1"/>
          <p:nvPr/>
        </p:nvSpPr>
        <p:spPr>
          <a:xfrm>
            <a:off x="658368" y="1856232"/>
            <a:ext cx="1719072" cy="768096"/>
          </a:xfrm>
          <a:prstGeom prst="rect">
            <a:avLst/>
          </a:prstGeom>
          <a:noFill/>
          <a:ln/>
        </p:spPr>
        <p:txBody>
          <a:bodyPr wrap="square" lIns="0" tIns="0" rIns="0" bIns="0" rtlCol="0" anchor="ctr"/>
          <a:lstStyle/>
          <a:p>
            <a:pPr indent="0" marL="0">
              <a:buNone/>
            </a:pPr>
            <a:r>
              <a:rPr lang="en-US" sz="1400" b="1" dirty="0">
                <a:solidFill>
                  <a:schemeClr val="tx2"/>
                </a:solidFill>
              </a:rPr>
              <a:t>GitHub dataset</a:t>
            </a:r>
            <a:endParaRPr lang="en-US" sz="1400" dirty="0"/>
          </a:p>
          <a:p>
            <a:pPr indent="0" marL="0">
              <a:buNone/>
            </a:pPr>
            <a:r>
              <a:rPr lang="en-US" sz="1200" dirty="0">
                <a:solidFill>
                  <a:schemeClr val="tx1"/>
                </a:solidFill>
              </a:rPr>
              <a:t>commit 862ed17</a:t>
            </a:r>
            <a:endParaRPr lang="en-US" sz="1400" dirty="0"/>
          </a:p>
        </p:txBody>
      </p:sp>
      <p:sp>
        <p:nvSpPr>
          <p:cNvPr id="6" name="arch-0-1"/>
          <p:cNvSpPr/>
          <p:nvPr/>
        </p:nvSpPr>
        <p:spPr>
          <a:xfrm>
            <a:off x="548640" y="2816352"/>
            <a:ext cx="1938528" cy="630936"/>
          </a:xfrm>
          <a:prstGeom prst="roundRect">
            <a:avLst>
              <a:gd name="adj" fmla="val 11594"/>
            </a:avLst>
          </a:prstGeom>
          <a:solidFill>
            <a:schemeClr val="bg2"/>
          </a:solidFill>
          <a:ln w="12700">
            <a:solidFill>
              <a:schemeClr val="bg2"/>
            </a:solidFill>
            <a:prstDash val="solid"/>
          </a:ln>
        </p:spPr>
      </p:sp>
      <p:sp>
        <p:nvSpPr>
          <p:cNvPr id="7" name="Text 5"/>
          <p:cNvSpPr txBox="1"/>
          <p:nvPr/>
        </p:nvSpPr>
        <p:spPr>
          <a:xfrm>
            <a:off x="658368" y="2871216"/>
            <a:ext cx="1719072" cy="521208"/>
          </a:xfrm>
          <a:prstGeom prst="rect">
            <a:avLst/>
          </a:prstGeom>
          <a:noFill/>
          <a:ln/>
        </p:spPr>
        <p:txBody>
          <a:bodyPr wrap="square" lIns="0" tIns="0" rIns="0" bIns="0" rtlCol="0" anchor="ctr"/>
          <a:lstStyle/>
          <a:p>
            <a:pPr indent="0" marL="0">
              <a:buNone/>
            </a:pPr>
            <a:r>
              <a:rPr lang="en-US" sz="1400" b="1" dirty="0">
                <a:solidFill>
                  <a:schemeClr val="tx2"/>
                </a:solidFill>
              </a:rPr>
              <a:t>MITRE CWE 4.20</a:t>
            </a:r>
            <a:endParaRPr lang="en-US" sz="1400" dirty="0"/>
          </a:p>
        </p:txBody>
      </p:sp>
      <p:sp>
        <p:nvSpPr>
          <p:cNvPr id="8" name="arch-0-2"/>
          <p:cNvSpPr/>
          <p:nvPr/>
        </p:nvSpPr>
        <p:spPr>
          <a:xfrm>
            <a:off x="548640" y="3584448"/>
            <a:ext cx="1938528" cy="877824"/>
          </a:xfrm>
          <a:prstGeom prst="roundRect">
            <a:avLst>
              <a:gd name="adj" fmla="val 8333"/>
            </a:avLst>
          </a:prstGeom>
          <a:solidFill>
            <a:schemeClr val="bg2"/>
          </a:solidFill>
          <a:ln w="12700">
            <a:solidFill>
              <a:schemeClr val="bg2"/>
            </a:solidFill>
            <a:prstDash val="solid"/>
          </a:ln>
        </p:spPr>
      </p:sp>
      <p:sp>
        <p:nvSpPr>
          <p:cNvPr id="9" name="Text 7"/>
          <p:cNvSpPr txBox="1"/>
          <p:nvPr/>
        </p:nvSpPr>
        <p:spPr>
          <a:xfrm>
            <a:off x="658368" y="3639312"/>
            <a:ext cx="1719072" cy="768096"/>
          </a:xfrm>
          <a:prstGeom prst="rect">
            <a:avLst/>
          </a:prstGeom>
          <a:noFill/>
          <a:ln/>
        </p:spPr>
        <p:txBody>
          <a:bodyPr wrap="square" lIns="0" tIns="0" rIns="0" bIns="0" rtlCol="0" anchor="ctr"/>
          <a:lstStyle/>
          <a:p>
            <a:pPr indent="0" marL="0">
              <a:buNone/>
            </a:pPr>
            <a:r>
              <a:rPr lang="en-US" sz="1400" b="1" dirty="0">
                <a:solidFill>
                  <a:schemeClr val="tx2"/>
                </a:solidFill>
              </a:rPr>
              <a:t>CodeBERT</a:t>
            </a:r>
            <a:endParaRPr lang="en-US" sz="1400" dirty="0"/>
          </a:p>
          <a:p>
            <a:pPr indent="0" marL="0">
              <a:buNone/>
            </a:pPr>
            <a:r>
              <a:rPr lang="en-US" sz="1200" dirty="0">
                <a:solidFill>
                  <a:schemeClr val="tx1"/>
                </a:solidFill>
              </a:rPr>
              <a:t>revision 3b0952f</a:t>
            </a:r>
            <a:endParaRPr lang="en-US" sz="1400" dirty="0"/>
          </a:p>
        </p:txBody>
      </p:sp>
      <p:sp>
        <p:nvSpPr>
          <p:cNvPr id="10" name="arch-flow-0"/>
          <p:cNvSpPr/>
          <p:nvPr/>
        </p:nvSpPr>
        <p:spPr>
          <a:xfrm>
            <a:off x="2532888" y="3127248"/>
            <a:ext cx="259004" cy="0"/>
          </a:xfrm>
          <a:prstGeom prst="line">
            <a:avLst/>
          </a:prstGeom>
          <a:noFill/>
          <a:ln w="22225">
            <a:solidFill>
              <a:schemeClr val="accent4"/>
            </a:solidFill>
            <a:prstDash val="solid"/>
            <a:tailEnd type="triangle"/>
          </a:ln>
        </p:spPr>
      </p:sp>
      <p:sp>
        <p:nvSpPr>
          <p:cNvPr id="11" name="Text 9"/>
          <p:cNvSpPr txBox="1"/>
          <p:nvPr/>
        </p:nvSpPr>
        <p:spPr>
          <a:xfrm>
            <a:off x="2837612" y="1325880"/>
            <a:ext cx="1938528"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INGEST AND QUALITY</a:t>
            </a:r>
            <a:endParaRPr lang="en-US" sz="1100" dirty="0"/>
          </a:p>
        </p:txBody>
      </p:sp>
      <p:sp>
        <p:nvSpPr>
          <p:cNvPr id="12" name="arch-1-0"/>
          <p:cNvSpPr/>
          <p:nvPr/>
        </p:nvSpPr>
        <p:spPr>
          <a:xfrm>
            <a:off x="2837612" y="2446020"/>
            <a:ext cx="1938528" cy="1371600"/>
          </a:xfrm>
          <a:prstGeom prst="roundRect">
            <a:avLst>
              <a:gd name="adj" fmla="val 5333"/>
            </a:avLst>
          </a:prstGeom>
          <a:solidFill>
            <a:schemeClr val="bg1"/>
          </a:solidFill>
          <a:ln w="12700">
            <a:solidFill>
              <a:schemeClr val="accent5"/>
            </a:solidFill>
            <a:prstDash val="solid"/>
          </a:ln>
        </p:spPr>
      </p:sp>
      <p:sp>
        <p:nvSpPr>
          <p:cNvPr id="13" name="Text 11"/>
          <p:cNvSpPr txBox="1"/>
          <p:nvPr/>
        </p:nvSpPr>
        <p:spPr>
          <a:xfrm>
            <a:off x="2947340" y="2500884"/>
            <a:ext cx="1719072" cy="1261872"/>
          </a:xfrm>
          <a:prstGeom prst="rect">
            <a:avLst/>
          </a:prstGeom>
          <a:noFill/>
          <a:ln/>
        </p:spPr>
        <p:txBody>
          <a:bodyPr wrap="square" lIns="0" tIns="0" rIns="0" bIns="0" rtlCol="0" anchor="ctr"/>
          <a:lstStyle/>
          <a:p>
            <a:pPr indent="0" marL="0">
              <a:buNone/>
            </a:pPr>
            <a:r>
              <a:rPr lang="en-US" sz="1400" b="1" dirty="0">
                <a:solidFill>
                  <a:schemeClr val="tx2"/>
                </a:solidFill>
              </a:rPr>
              <a:t>data_pipeline.py</a:t>
            </a:r>
            <a:endParaRPr lang="en-US" sz="1400" dirty="0"/>
          </a:p>
          <a:p>
            <a:pPr indent="0" marL="0">
              <a:buNone/>
            </a:pPr>
            <a:r>
              <a:rPr lang="en-US" sz="1200" dirty="0">
                <a:solidFill>
                  <a:schemeClr val="tx1"/>
                </a:solidFill>
              </a:rPr>
              <a:t>SHA-256 check</a:t>
            </a:r>
            <a:endParaRPr lang="en-US" sz="1400" dirty="0"/>
          </a:p>
          <a:p>
            <a:pPr indent="0" marL="0">
              <a:buNone/>
            </a:pPr>
            <a:r>
              <a:rPr lang="en-US" sz="1200" dirty="0">
                <a:solidFill>
                  <a:schemeClr val="tx1"/>
                </a:solidFill>
              </a:rPr>
              <a:t>read-only raw zone</a:t>
            </a:r>
            <a:endParaRPr lang="en-US" sz="1400" dirty="0"/>
          </a:p>
          <a:p>
            <a:pPr indent="0" marL="0">
              <a:buNone/>
            </a:pPr>
            <a:r>
              <a:rPr lang="en-US" sz="1200" dirty="0">
                <a:solidFill>
                  <a:schemeClr val="tx1"/>
                </a:solidFill>
              </a:rPr>
              <a:t>rules R1 to R5</a:t>
            </a:r>
            <a:endParaRPr lang="en-US" sz="1400" dirty="0"/>
          </a:p>
        </p:txBody>
      </p:sp>
      <p:sp>
        <p:nvSpPr>
          <p:cNvPr id="14" name="arch-flow-1"/>
          <p:cNvSpPr/>
          <p:nvPr/>
        </p:nvSpPr>
        <p:spPr>
          <a:xfrm>
            <a:off x="4821860" y="3127248"/>
            <a:ext cx="259004" cy="0"/>
          </a:xfrm>
          <a:prstGeom prst="line">
            <a:avLst/>
          </a:prstGeom>
          <a:noFill/>
          <a:ln w="22225">
            <a:solidFill>
              <a:schemeClr val="accent4"/>
            </a:solidFill>
            <a:prstDash val="solid"/>
            <a:tailEnd type="triangle"/>
          </a:ln>
        </p:spPr>
      </p:sp>
      <p:sp>
        <p:nvSpPr>
          <p:cNvPr id="15" name="Text 13"/>
          <p:cNvSpPr txBox="1"/>
          <p:nvPr/>
        </p:nvSpPr>
        <p:spPr>
          <a:xfrm>
            <a:off x="5126584" y="1325880"/>
            <a:ext cx="1938528"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WAREHOUSE</a:t>
            </a:r>
            <a:endParaRPr lang="en-US" sz="1100" dirty="0"/>
          </a:p>
        </p:txBody>
      </p:sp>
      <p:sp>
        <p:nvSpPr>
          <p:cNvPr id="16" name="arch-2-0"/>
          <p:cNvSpPr/>
          <p:nvPr/>
        </p:nvSpPr>
        <p:spPr>
          <a:xfrm>
            <a:off x="5126584" y="2446020"/>
            <a:ext cx="1938528" cy="1371600"/>
          </a:xfrm>
          <a:prstGeom prst="roundRect">
            <a:avLst>
              <a:gd name="adj" fmla="val 5333"/>
            </a:avLst>
          </a:prstGeom>
          <a:solidFill>
            <a:schemeClr val="bg1"/>
          </a:solidFill>
          <a:ln w="12700">
            <a:solidFill>
              <a:schemeClr val="accent5"/>
            </a:solidFill>
            <a:prstDash val="solid"/>
          </a:ln>
        </p:spPr>
      </p:sp>
      <p:sp>
        <p:nvSpPr>
          <p:cNvPr id="17" name="Text 15"/>
          <p:cNvSpPr txBox="1"/>
          <p:nvPr/>
        </p:nvSpPr>
        <p:spPr>
          <a:xfrm>
            <a:off x="5236312" y="2500884"/>
            <a:ext cx="1719072" cy="1261872"/>
          </a:xfrm>
          <a:prstGeom prst="rect">
            <a:avLst/>
          </a:prstGeom>
          <a:noFill/>
          <a:ln/>
        </p:spPr>
        <p:txBody>
          <a:bodyPr wrap="square" lIns="0" tIns="0" rIns="0" bIns="0" rtlCol="0" anchor="ctr"/>
          <a:lstStyle/>
          <a:p>
            <a:pPr indent="0" marL="0">
              <a:buNone/>
            </a:pPr>
            <a:r>
              <a:rPr lang="en-US" sz="1400" b="1" dirty="0">
                <a:solidFill>
                  <a:schemeClr val="tx2"/>
                </a:solidFill>
              </a:rPr>
              <a:t>warehouse.db</a:t>
            </a:r>
            <a:endParaRPr lang="en-US" sz="1400" dirty="0"/>
          </a:p>
          <a:p>
            <a:pPr indent="0" marL="0">
              <a:buNone/>
            </a:pPr>
            <a:r>
              <a:rPr lang="en-US" sz="1200" dirty="0">
                <a:solidFill>
                  <a:schemeClr val="tx1"/>
                </a:solidFill>
              </a:rPr>
              <a:t>9 tables, mode 600</a:t>
            </a:r>
            <a:endParaRPr lang="en-US" sz="1400" dirty="0"/>
          </a:p>
          <a:p>
            <a:pPr indent="0" marL="0">
              <a:buNone/>
            </a:pPr>
            <a:r>
              <a:rPr lang="en-US" sz="1200" dirty="0">
                <a:solidFill>
                  <a:schemeClr val="tx1"/>
                </a:solidFill>
              </a:rPr>
              <a:t>view model_input</a:t>
            </a:r>
            <a:endParaRPr lang="en-US" sz="1400" dirty="0"/>
          </a:p>
          <a:p>
            <a:pPr indent="0" marL="0">
              <a:buNone/>
            </a:pPr>
            <a:r>
              <a:rPr lang="en-US" sz="1200" dirty="0">
                <a:solidFill>
                  <a:schemeClr val="tx1"/>
                </a:solidFill>
              </a:rPr>
              <a:t>results tables</a:t>
            </a:r>
            <a:endParaRPr lang="en-US" sz="1400" dirty="0"/>
          </a:p>
        </p:txBody>
      </p:sp>
      <p:sp>
        <p:nvSpPr>
          <p:cNvPr id="18" name="arch-flow-2"/>
          <p:cNvSpPr/>
          <p:nvPr/>
        </p:nvSpPr>
        <p:spPr>
          <a:xfrm>
            <a:off x="7110832" y="3127248"/>
            <a:ext cx="259004" cy="0"/>
          </a:xfrm>
          <a:prstGeom prst="line">
            <a:avLst/>
          </a:prstGeom>
          <a:noFill/>
          <a:ln w="22225">
            <a:solidFill>
              <a:schemeClr val="accent4"/>
            </a:solidFill>
            <a:prstDash val="solid"/>
            <a:tailEnd type="triangle"/>
          </a:ln>
        </p:spPr>
      </p:sp>
      <p:sp>
        <p:nvSpPr>
          <p:cNvPr id="19" name="Text 17"/>
          <p:cNvSpPr txBox="1"/>
          <p:nvPr/>
        </p:nvSpPr>
        <p:spPr>
          <a:xfrm>
            <a:off x="7415555" y="1325880"/>
            <a:ext cx="1938528"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MODELS</a:t>
            </a:r>
            <a:endParaRPr lang="en-US" sz="1100" dirty="0"/>
          </a:p>
        </p:txBody>
      </p:sp>
      <p:sp>
        <p:nvSpPr>
          <p:cNvPr id="20" name="arch-3-0"/>
          <p:cNvSpPr/>
          <p:nvPr/>
        </p:nvSpPr>
        <p:spPr>
          <a:xfrm>
            <a:off x="7415555" y="1924812"/>
            <a:ext cx="1938528" cy="877824"/>
          </a:xfrm>
          <a:prstGeom prst="roundRect">
            <a:avLst>
              <a:gd name="adj" fmla="val 8333"/>
            </a:avLst>
          </a:prstGeom>
          <a:solidFill>
            <a:schemeClr val="accent1"/>
          </a:solidFill>
          <a:ln w="12700">
            <a:solidFill>
              <a:schemeClr val="accent1"/>
            </a:solidFill>
            <a:prstDash val="solid"/>
          </a:ln>
        </p:spPr>
      </p:sp>
      <p:sp>
        <p:nvSpPr>
          <p:cNvPr id="21" name="Text 19"/>
          <p:cNvSpPr txBox="1"/>
          <p:nvPr/>
        </p:nvSpPr>
        <p:spPr>
          <a:xfrm>
            <a:off x="7525283" y="1979676"/>
            <a:ext cx="1719072" cy="768096"/>
          </a:xfrm>
          <a:prstGeom prst="rect">
            <a:avLst/>
          </a:prstGeom>
          <a:noFill/>
          <a:ln/>
        </p:spPr>
        <p:txBody>
          <a:bodyPr wrap="square" lIns="0" tIns="0" rIns="0" bIns="0" rtlCol="0" anchor="ctr"/>
          <a:lstStyle/>
          <a:p>
            <a:pPr indent="0" marL="0">
              <a:buNone/>
            </a:pPr>
            <a:r>
              <a:rPr lang="en-US" sz="1400" b="1" dirty="0">
                <a:solidFill>
                  <a:schemeClr val="bg1"/>
                </a:solidFill>
              </a:rPr>
              <a:t>train.py</a:t>
            </a:r>
            <a:endParaRPr lang="en-US" sz="1400" dirty="0"/>
          </a:p>
          <a:p>
            <a:pPr indent="0" marL="0">
              <a:buNone/>
            </a:pPr>
            <a:r>
              <a:rPr lang="en-US" sz="1200" dirty="0">
                <a:solidFill>
                  <a:schemeClr val="bg1"/>
                </a:solidFill>
              </a:rPr>
              <a:t>primary method</a:t>
            </a:r>
            <a:endParaRPr lang="en-US" sz="1400" dirty="0"/>
          </a:p>
        </p:txBody>
      </p:sp>
      <p:sp>
        <p:nvSpPr>
          <p:cNvPr id="22" name="arch-3-1"/>
          <p:cNvSpPr/>
          <p:nvPr/>
        </p:nvSpPr>
        <p:spPr>
          <a:xfrm>
            <a:off x="7415555" y="2939796"/>
            <a:ext cx="1938528" cy="630936"/>
          </a:xfrm>
          <a:prstGeom prst="roundRect">
            <a:avLst>
              <a:gd name="adj" fmla="val 11594"/>
            </a:avLst>
          </a:prstGeom>
          <a:solidFill>
            <a:schemeClr val="bg1"/>
          </a:solidFill>
          <a:ln w="12700">
            <a:solidFill>
              <a:schemeClr val="accent5"/>
            </a:solidFill>
            <a:prstDash val="solid"/>
          </a:ln>
        </p:spPr>
      </p:sp>
      <p:sp>
        <p:nvSpPr>
          <p:cNvPr id="23" name="Text 21"/>
          <p:cNvSpPr txBox="1"/>
          <p:nvPr/>
        </p:nvSpPr>
        <p:spPr>
          <a:xfrm>
            <a:off x="7525283" y="2994660"/>
            <a:ext cx="1719072" cy="521208"/>
          </a:xfrm>
          <a:prstGeom prst="rect">
            <a:avLst/>
          </a:prstGeom>
          <a:noFill/>
          <a:ln/>
        </p:spPr>
        <p:txBody>
          <a:bodyPr wrap="square" lIns="0" tIns="0" rIns="0" bIns="0" rtlCol="0" anchor="ctr"/>
          <a:lstStyle/>
          <a:p>
            <a:pPr indent="0" marL="0">
              <a:buNone/>
            </a:pPr>
            <a:r>
              <a:rPr lang="en-US" sz="1400" b="1" dirty="0">
                <a:solidFill>
                  <a:schemeClr val="tx2"/>
                </a:solidFill>
              </a:rPr>
              <a:t>alternative.py</a:t>
            </a:r>
            <a:endParaRPr lang="en-US" sz="1400" dirty="0"/>
          </a:p>
        </p:txBody>
      </p:sp>
      <p:sp>
        <p:nvSpPr>
          <p:cNvPr id="24" name="arch-3-2"/>
          <p:cNvSpPr/>
          <p:nvPr/>
        </p:nvSpPr>
        <p:spPr>
          <a:xfrm>
            <a:off x="7415555" y="3707892"/>
            <a:ext cx="1938528" cy="630936"/>
          </a:xfrm>
          <a:prstGeom prst="roundRect">
            <a:avLst>
              <a:gd name="adj" fmla="val 11594"/>
            </a:avLst>
          </a:prstGeom>
          <a:solidFill>
            <a:schemeClr val="bg1"/>
          </a:solidFill>
          <a:ln w="12700">
            <a:solidFill>
              <a:schemeClr val="accent5"/>
            </a:solidFill>
            <a:prstDash val="solid"/>
          </a:ln>
        </p:spPr>
      </p:sp>
      <p:sp>
        <p:nvSpPr>
          <p:cNvPr id="25" name="Text 23"/>
          <p:cNvSpPr txBox="1"/>
          <p:nvPr/>
        </p:nvSpPr>
        <p:spPr>
          <a:xfrm>
            <a:off x="7525283" y="3762756"/>
            <a:ext cx="1719072" cy="521208"/>
          </a:xfrm>
          <a:prstGeom prst="rect">
            <a:avLst/>
          </a:prstGeom>
          <a:noFill/>
          <a:ln/>
        </p:spPr>
        <p:txBody>
          <a:bodyPr wrap="square" lIns="0" tIns="0" rIns="0" bIns="0" rtlCol="0" anchor="ctr"/>
          <a:lstStyle/>
          <a:p>
            <a:pPr indent="0" marL="0">
              <a:buNone/>
            </a:pPr>
            <a:r>
              <a:rPr lang="en-US" sz="1400" b="1" dirty="0">
                <a:solidFill>
                  <a:schemeClr val="tx2"/>
                </a:solidFill>
              </a:rPr>
              <a:t>baselines.py</a:t>
            </a:r>
            <a:endParaRPr lang="en-US" sz="1400" dirty="0"/>
          </a:p>
        </p:txBody>
      </p:sp>
      <p:sp>
        <p:nvSpPr>
          <p:cNvPr id="26" name="arch-flow-3"/>
          <p:cNvSpPr/>
          <p:nvPr/>
        </p:nvSpPr>
        <p:spPr>
          <a:xfrm>
            <a:off x="9399803" y="3127248"/>
            <a:ext cx="259004" cy="0"/>
          </a:xfrm>
          <a:prstGeom prst="line">
            <a:avLst/>
          </a:prstGeom>
          <a:noFill/>
          <a:ln w="22225">
            <a:solidFill>
              <a:schemeClr val="accent4"/>
            </a:solidFill>
            <a:prstDash val="solid"/>
            <a:tailEnd type="triangle"/>
          </a:ln>
        </p:spPr>
      </p:sp>
      <p:sp>
        <p:nvSpPr>
          <p:cNvPr id="27" name="Text 25"/>
          <p:cNvSpPr txBox="1"/>
          <p:nvPr/>
        </p:nvSpPr>
        <p:spPr>
          <a:xfrm>
            <a:off x="9704527" y="1325880"/>
            <a:ext cx="1938528"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EVALUATION AND USE</a:t>
            </a:r>
            <a:endParaRPr lang="en-US" sz="1100" dirty="0"/>
          </a:p>
        </p:txBody>
      </p:sp>
      <p:sp>
        <p:nvSpPr>
          <p:cNvPr id="28" name="arch-4-0"/>
          <p:cNvSpPr/>
          <p:nvPr/>
        </p:nvSpPr>
        <p:spPr>
          <a:xfrm>
            <a:off x="9704527" y="1801368"/>
            <a:ext cx="1938528" cy="877824"/>
          </a:xfrm>
          <a:prstGeom prst="roundRect">
            <a:avLst>
              <a:gd name="adj" fmla="val 8333"/>
            </a:avLst>
          </a:prstGeom>
          <a:solidFill>
            <a:schemeClr val="bg1"/>
          </a:solidFill>
          <a:ln w="12700">
            <a:solidFill>
              <a:schemeClr val="accent5"/>
            </a:solidFill>
            <a:prstDash val="solid"/>
          </a:ln>
        </p:spPr>
      </p:sp>
      <p:sp>
        <p:nvSpPr>
          <p:cNvPr id="29" name="Text 27"/>
          <p:cNvSpPr txBox="1"/>
          <p:nvPr/>
        </p:nvSpPr>
        <p:spPr>
          <a:xfrm>
            <a:off x="9814255" y="1856232"/>
            <a:ext cx="1719072" cy="768096"/>
          </a:xfrm>
          <a:prstGeom prst="rect">
            <a:avLst/>
          </a:prstGeom>
          <a:noFill/>
          <a:ln/>
        </p:spPr>
        <p:txBody>
          <a:bodyPr wrap="square" lIns="0" tIns="0" rIns="0" bIns="0" rtlCol="0" anchor="ctr"/>
          <a:lstStyle/>
          <a:p>
            <a:pPr indent="0" marL="0">
              <a:buNone/>
            </a:pPr>
            <a:r>
              <a:rPr lang="en-US" sz="1400" b="1" dirty="0">
                <a:solidFill>
                  <a:schemeClr val="tx2"/>
                </a:solidFill>
              </a:rPr>
              <a:t>evaluate.py</a:t>
            </a:r>
            <a:endParaRPr lang="en-US" sz="1400" dirty="0"/>
          </a:p>
          <a:p>
            <a:pPr indent="0" marL="0">
              <a:buNone/>
            </a:pPr>
            <a:r>
              <a:rPr lang="en-US" sz="1200" dirty="0">
                <a:solidFill>
                  <a:schemeClr val="tx1"/>
                </a:solidFill>
              </a:rPr>
              <a:t>metrics, intervals</a:t>
            </a:r>
            <a:endParaRPr lang="en-US" sz="1400" dirty="0"/>
          </a:p>
        </p:txBody>
      </p:sp>
      <p:sp>
        <p:nvSpPr>
          <p:cNvPr id="30" name="arch-4-1"/>
          <p:cNvSpPr/>
          <p:nvPr/>
        </p:nvSpPr>
        <p:spPr>
          <a:xfrm>
            <a:off x="9704527" y="2816352"/>
            <a:ext cx="1938528" cy="630936"/>
          </a:xfrm>
          <a:prstGeom prst="roundRect">
            <a:avLst>
              <a:gd name="adj" fmla="val 11594"/>
            </a:avLst>
          </a:prstGeom>
          <a:solidFill>
            <a:schemeClr val="bg1"/>
          </a:solidFill>
          <a:ln w="12700">
            <a:solidFill>
              <a:schemeClr val="accent5"/>
            </a:solidFill>
            <a:prstDash val="solid"/>
          </a:ln>
        </p:spPr>
      </p:sp>
      <p:sp>
        <p:nvSpPr>
          <p:cNvPr id="31" name="Text 29"/>
          <p:cNvSpPr txBox="1"/>
          <p:nvPr/>
        </p:nvSpPr>
        <p:spPr>
          <a:xfrm>
            <a:off x="9814255" y="2871216"/>
            <a:ext cx="1719072" cy="521208"/>
          </a:xfrm>
          <a:prstGeom prst="rect">
            <a:avLst/>
          </a:prstGeom>
          <a:noFill/>
          <a:ln/>
        </p:spPr>
        <p:txBody>
          <a:bodyPr wrap="square" lIns="0" tIns="0" rIns="0" bIns="0" rtlCol="0" anchor="ctr"/>
          <a:lstStyle/>
          <a:p>
            <a:pPr indent="0" marL="0">
              <a:buNone/>
            </a:pPr>
            <a:r>
              <a:rPr lang="en-US" sz="1400" b="1" dirty="0">
                <a:solidFill>
                  <a:schemeClr val="tx2"/>
                </a:solidFill>
              </a:rPr>
              <a:t>report and slides</a:t>
            </a:r>
            <a:endParaRPr lang="en-US" sz="1400" dirty="0"/>
          </a:p>
        </p:txBody>
      </p:sp>
      <p:sp>
        <p:nvSpPr>
          <p:cNvPr id="32" name="arch-4-2"/>
          <p:cNvSpPr/>
          <p:nvPr/>
        </p:nvSpPr>
        <p:spPr>
          <a:xfrm>
            <a:off x="9704527" y="3584448"/>
            <a:ext cx="1938528" cy="877824"/>
          </a:xfrm>
          <a:prstGeom prst="roundRect">
            <a:avLst>
              <a:gd name="adj" fmla="val 8333"/>
            </a:avLst>
          </a:prstGeom>
          <a:solidFill>
            <a:schemeClr val="bg1"/>
          </a:solidFill>
          <a:ln w="12700">
            <a:solidFill>
              <a:schemeClr val="accent5"/>
            </a:solidFill>
            <a:prstDash val="solid"/>
          </a:ln>
        </p:spPr>
      </p:sp>
      <p:sp>
        <p:nvSpPr>
          <p:cNvPr id="33" name="Text 31"/>
          <p:cNvSpPr txBox="1"/>
          <p:nvPr/>
        </p:nvSpPr>
        <p:spPr>
          <a:xfrm>
            <a:off x="9814255" y="3639312"/>
            <a:ext cx="1719072" cy="768096"/>
          </a:xfrm>
          <a:prstGeom prst="rect">
            <a:avLst/>
          </a:prstGeom>
          <a:noFill/>
          <a:ln/>
        </p:spPr>
        <p:txBody>
          <a:bodyPr wrap="square" lIns="0" tIns="0" rIns="0" bIns="0" rtlCol="0" anchor="ctr"/>
          <a:lstStyle/>
          <a:p>
            <a:pPr indent="0" marL="0">
              <a:buNone/>
            </a:pPr>
            <a:r>
              <a:rPr lang="en-US" sz="1400" b="1" dirty="0">
                <a:solidFill>
                  <a:schemeClr val="tx2"/>
                </a:solidFill>
              </a:rPr>
              <a:t>demo.py</a:t>
            </a:r>
            <a:endParaRPr lang="en-US" sz="1400" dirty="0"/>
          </a:p>
          <a:p>
            <a:pPr indent="0" marL="0">
              <a:buNone/>
            </a:pPr>
            <a:r>
              <a:rPr lang="en-US" sz="1200" dirty="0">
                <a:solidFill>
                  <a:schemeClr val="tx1"/>
                </a:solidFill>
              </a:rPr>
              <a:t>checks the hash</a:t>
            </a:r>
            <a:endParaRPr lang="en-US" sz="1400" dirty="0"/>
          </a:p>
        </p:txBody>
      </p:sp>
      <p:sp>
        <p:nvSpPr>
          <p:cNvPr id="34" name="back-down"/>
          <p:cNvSpPr/>
          <p:nvPr/>
        </p:nvSpPr>
        <p:spPr>
          <a:xfrm>
            <a:off x="10673791" y="4462272"/>
            <a:ext cx="0" cy="274320"/>
          </a:xfrm>
          <a:prstGeom prst="line">
            <a:avLst/>
          </a:prstGeom>
          <a:noFill/>
          <a:ln w="19050">
            <a:solidFill>
              <a:schemeClr val="accent1"/>
            </a:solidFill>
            <a:prstDash val="solid"/>
          </a:ln>
        </p:spPr>
      </p:sp>
      <p:sp>
        <p:nvSpPr>
          <p:cNvPr id="35" name="back-across"/>
          <p:cNvSpPr/>
          <p:nvPr/>
        </p:nvSpPr>
        <p:spPr>
          <a:xfrm>
            <a:off x="6095848" y="4736592"/>
            <a:ext cx="4577944" cy="0"/>
          </a:xfrm>
          <a:prstGeom prst="line">
            <a:avLst/>
          </a:prstGeom>
          <a:noFill/>
          <a:ln w="19050">
            <a:solidFill>
              <a:schemeClr val="accent1"/>
            </a:solidFill>
            <a:prstDash val="solid"/>
          </a:ln>
        </p:spPr>
      </p:sp>
      <p:sp>
        <p:nvSpPr>
          <p:cNvPr id="36" name="back-up"/>
          <p:cNvSpPr/>
          <p:nvPr/>
        </p:nvSpPr>
        <p:spPr>
          <a:xfrm flipV="1">
            <a:off x="6095848" y="3835908"/>
            <a:ext cx="0" cy="900684"/>
          </a:xfrm>
          <a:prstGeom prst="line">
            <a:avLst/>
          </a:prstGeom>
          <a:noFill/>
          <a:ln w="19050">
            <a:solidFill>
              <a:schemeClr val="accent1"/>
            </a:solidFill>
            <a:prstDash val="solid"/>
            <a:tailEnd type="triangle"/>
          </a:ln>
        </p:spPr>
      </p:sp>
      <p:sp>
        <p:nvSpPr>
          <p:cNvPr id="37" name="Text 35"/>
          <p:cNvSpPr txBox="1"/>
          <p:nvPr/>
        </p:nvSpPr>
        <p:spPr>
          <a:xfrm>
            <a:off x="6461608" y="4764024"/>
            <a:ext cx="3846424" cy="274320"/>
          </a:xfrm>
          <a:prstGeom prst="rect">
            <a:avLst/>
          </a:prstGeom>
          <a:noFill/>
          <a:ln/>
        </p:spPr>
        <p:txBody>
          <a:bodyPr wrap="square" lIns="0" tIns="0" rIns="0" bIns="0" rtlCol="0" anchor="ctr"/>
          <a:lstStyle/>
          <a:p>
            <a:pPr algn="ctr" indent="0" marL="0">
              <a:buNone/>
            </a:pPr>
            <a:r>
              <a:rPr lang="en-US" sz="1200" i="1" dirty="0">
                <a:solidFill>
                  <a:schemeClr val="accent1"/>
                </a:solidFill>
              </a:rPr>
              <a:t>results written back: experiment_run, prediction, metric</a:t>
            </a:r>
            <a:endParaRPr lang="en-US" sz="1200" dirty="0"/>
          </a:p>
        </p:txBody>
      </p:sp>
      <p:sp>
        <p:nvSpPr>
          <p:cNvPr id="38" name="panel"/>
          <p:cNvSpPr/>
          <p:nvPr/>
        </p:nvSpPr>
        <p:spPr>
          <a:xfrm>
            <a:off x="548640" y="5394960"/>
            <a:ext cx="2072579" cy="731520"/>
          </a:xfrm>
          <a:prstGeom prst="roundRect">
            <a:avLst>
              <a:gd name="adj" fmla="val 15000"/>
            </a:avLst>
          </a:prstGeom>
          <a:solidFill>
            <a:schemeClr val="bg2"/>
          </a:solidFill>
          <a:ln w="12700">
            <a:solidFill>
              <a:schemeClr val="bg2"/>
            </a:solidFill>
            <a:prstDash val="solid"/>
          </a:ln>
        </p:spPr>
      </p:sp>
      <p:pic>
        <p:nvPicPr>
          <p:cNvPr id="39" name="control-icon-0" descr="preencoded.png">    </p:cNvPr>
          <p:cNvPicPr>
            <a:picLocks noChangeAspect="1"/>
          </p:cNvPicPr>
          <p:nvPr/>
        </p:nvPicPr>
        <p:blipFill>
          <a:blip r:embed="rId1"/>
          <a:stretch>
            <a:fillRect/>
          </a:stretch>
        </p:blipFill>
        <p:spPr>
          <a:xfrm>
            <a:off x="731520" y="5550408"/>
            <a:ext cx="420624" cy="420624"/>
          </a:xfrm>
          <a:prstGeom prst="rect">
            <a:avLst/>
          </a:prstGeom>
        </p:spPr>
      </p:pic>
      <p:sp>
        <p:nvSpPr>
          <p:cNvPr id="40" name="Text 37"/>
          <p:cNvSpPr txBox="1"/>
          <p:nvPr/>
        </p:nvSpPr>
        <p:spPr>
          <a:xfrm>
            <a:off x="1280160" y="5394960"/>
            <a:ext cx="1249619" cy="731520"/>
          </a:xfrm>
          <a:prstGeom prst="rect">
            <a:avLst/>
          </a:prstGeom>
          <a:noFill/>
          <a:ln/>
        </p:spPr>
        <p:txBody>
          <a:bodyPr wrap="square" lIns="0" tIns="0" rIns="0" bIns="0" rtlCol="0" anchor="ctr"/>
          <a:lstStyle/>
          <a:p>
            <a:pPr indent="0" marL="0">
              <a:buNone/>
            </a:pPr>
            <a:r>
              <a:rPr lang="en-US" sz="1400" b="1" dirty="0">
                <a:solidFill>
                  <a:schemeClr val="tx2"/>
                </a:solidFill>
              </a:rPr>
              <a:t>Pinned versions</a:t>
            </a:r>
            <a:endParaRPr lang="en-US" sz="1400" dirty="0"/>
          </a:p>
        </p:txBody>
      </p:sp>
      <p:sp>
        <p:nvSpPr>
          <p:cNvPr id="41" name="panel"/>
          <p:cNvSpPr/>
          <p:nvPr/>
        </p:nvSpPr>
        <p:spPr>
          <a:xfrm>
            <a:off x="2804099" y="5394960"/>
            <a:ext cx="2072579" cy="731520"/>
          </a:xfrm>
          <a:prstGeom prst="roundRect">
            <a:avLst>
              <a:gd name="adj" fmla="val 15000"/>
            </a:avLst>
          </a:prstGeom>
          <a:solidFill>
            <a:schemeClr val="bg2"/>
          </a:solidFill>
          <a:ln w="12700">
            <a:solidFill>
              <a:schemeClr val="bg2"/>
            </a:solidFill>
            <a:prstDash val="solid"/>
          </a:ln>
        </p:spPr>
      </p:sp>
      <p:pic>
        <p:nvPicPr>
          <p:cNvPr id="42" name="control-icon-1" descr="preencoded.png">    </p:cNvPr>
          <p:cNvPicPr>
            <a:picLocks noChangeAspect="1"/>
          </p:cNvPicPr>
          <p:nvPr/>
        </p:nvPicPr>
        <p:blipFill>
          <a:blip r:embed="rId2"/>
          <a:stretch>
            <a:fillRect/>
          </a:stretch>
        </p:blipFill>
        <p:spPr>
          <a:xfrm>
            <a:off x="2986979" y="5550408"/>
            <a:ext cx="420624" cy="420624"/>
          </a:xfrm>
          <a:prstGeom prst="rect">
            <a:avLst/>
          </a:prstGeom>
        </p:spPr>
      </p:pic>
      <p:sp>
        <p:nvSpPr>
          <p:cNvPr id="43" name="Text 39"/>
          <p:cNvSpPr txBox="1"/>
          <p:nvPr/>
        </p:nvSpPr>
        <p:spPr>
          <a:xfrm>
            <a:off x="3535619" y="5394960"/>
            <a:ext cx="1249619" cy="731520"/>
          </a:xfrm>
          <a:prstGeom prst="rect">
            <a:avLst/>
          </a:prstGeom>
          <a:noFill/>
          <a:ln/>
        </p:spPr>
        <p:txBody>
          <a:bodyPr wrap="square" lIns="0" tIns="0" rIns="0" bIns="0" rtlCol="0" anchor="ctr"/>
          <a:lstStyle/>
          <a:p>
            <a:pPr indent="0" marL="0">
              <a:buNone/>
            </a:pPr>
            <a:r>
              <a:rPr lang="en-US" sz="1400" b="1" dirty="0">
                <a:solidFill>
                  <a:schemeClr val="tx2"/>
                </a:solidFill>
              </a:rPr>
              <a:t>SHA-256 integrity</a:t>
            </a:r>
            <a:endParaRPr lang="en-US" sz="1400" dirty="0"/>
          </a:p>
        </p:txBody>
      </p:sp>
      <p:sp>
        <p:nvSpPr>
          <p:cNvPr id="44" name="panel"/>
          <p:cNvSpPr/>
          <p:nvPr/>
        </p:nvSpPr>
        <p:spPr>
          <a:xfrm>
            <a:off x="5059558" y="5394960"/>
            <a:ext cx="2072579" cy="731520"/>
          </a:xfrm>
          <a:prstGeom prst="roundRect">
            <a:avLst>
              <a:gd name="adj" fmla="val 15000"/>
            </a:avLst>
          </a:prstGeom>
          <a:solidFill>
            <a:schemeClr val="bg2"/>
          </a:solidFill>
          <a:ln w="12700">
            <a:solidFill>
              <a:schemeClr val="bg2"/>
            </a:solidFill>
            <a:prstDash val="solid"/>
          </a:ln>
        </p:spPr>
      </p:sp>
      <p:pic>
        <p:nvPicPr>
          <p:cNvPr id="45" name="control-icon-2" descr="preencoded.png">    </p:cNvPr>
          <p:cNvPicPr>
            <a:picLocks noChangeAspect="1"/>
          </p:cNvPicPr>
          <p:nvPr/>
        </p:nvPicPr>
        <p:blipFill>
          <a:blip r:embed="rId3"/>
          <a:stretch>
            <a:fillRect/>
          </a:stretch>
        </p:blipFill>
        <p:spPr>
          <a:xfrm>
            <a:off x="5242438" y="5550408"/>
            <a:ext cx="420624" cy="420624"/>
          </a:xfrm>
          <a:prstGeom prst="rect">
            <a:avLst/>
          </a:prstGeom>
        </p:spPr>
      </p:pic>
      <p:sp>
        <p:nvSpPr>
          <p:cNvPr id="46" name="Text 41"/>
          <p:cNvSpPr txBox="1"/>
          <p:nvPr/>
        </p:nvSpPr>
        <p:spPr>
          <a:xfrm>
            <a:off x="5791078" y="5394960"/>
            <a:ext cx="1249619" cy="731520"/>
          </a:xfrm>
          <a:prstGeom prst="rect">
            <a:avLst/>
          </a:prstGeom>
          <a:noFill/>
          <a:ln/>
        </p:spPr>
        <p:txBody>
          <a:bodyPr wrap="square" lIns="0" tIns="0" rIns="0" bIns="0" rtlCol="0" anchor="ctr"/>
          <a:lstStyle/>
          <a:p>
            <a:pPr indent="0" marL="0">
              <a:buNone/>
            </a:pPr>
            <a:r>
              <a:rPr lang="en-US" sz="1400" b="1" dirty="0">
                <a:solidFill>
                  <a:schemeClr val="tx2"/>
                </a:solidFill>
              </a:rPr>
              <a:t>Least privilege</a:t>
            </a:r>
            <a:endParaRPr lang="en-US" sz="1400" dirty="0"/>
          </a:p>
        </p:txBody>
      </p:sp>
      <p:sp>
        <p:nvSpPr>
          <p:cNvPr id="47" name="panel"/>
          <p:cNvSpPr/>
          <p:nvPr/>
        </p:nvSpPr>
        <p:spPr>
          <a:xfrm>
            <a:off x="7315017" y="5394960"/>
            <a:ext cx="2072579" cy="731520"/>
          </a:xfrm>
          <a:prstGeom prst="roundRect">
            <a:avLst>
              <a:gd name="adj" fmla="val 15000"/>
            </a:avLst>
          </a:prstGeom>
          <a:solidFill>
            <a:schemeClr val="bg2"/>
          </a:solidFill>
          <a:ln w="12700">
            <a:solidFill>
              <a:schemeClr val="bg2"/>
            </a:solidFill>
            <a:prstDash val="solid"/>
          </a:ln>
        </p:spPr>
      </p:sp>
      <p:pic>
        <p:nvPicPr>
          <p:cNvPr id="48" name="control-icon-3" descr="preencoded.png">    </p:cNvPr>
          <p:cNvPicPr>
            <a:picLocks noChangeAspect="1"/>
          </p:cNvPicPr>
          <p:nvPr/>
        </p:nvPicPr>
        <p:blipFill>
          <a:blip r:embed="rId4"/>
          <a:stretch>
            <a:fillRect/>
          </a:stretch>
        </p:blipFill>
        <p:spPr>
          <a:xfrm>
            <a:off x="7497897" y="5550408"/>
            <a:ext cx="420624" cy="420624"/>
          </a:xfrm>
          <a:prstGeom prst="rect">
            <a:avLst/>
          </a:prstGeom>
        </p:spPr>
      </p:pic>
      <p:sp>
        <p:nvSpPr>
          <p:cNvPr id="49" name="Text 43"/>
          <p:cNvSpPr txBox="1"/>
          <p:nvPr/>
        </p:nvSpPr>
        <p:spPr>
          <a:xfrm>
            <a:off x="8046537" y="5394960"/>
            <a:ext cx="1249619" cy="731520"/>
          </a:xfrm>
          <a:prstGeom prst="rect">
            <a:avLst/>
          </a:prstGeom>
          <a:noFill/>
          <a:ln/>
        </p:spPr>
        <p:txBody>
          <a:bodyPr wrap="square" lIns="0" tIns="0" rIns="0" bIns="0" rtlCol="0" anchor="ctr"/>
          <a:lstStyle/>
          <a:p>
            <a:pPr indent="0" marL="0">
              <a:buNone/>
            </a:pPr>
            <a:r>
              <a:rPr lang="en-US" sz="1400" b="1" dirty="0">
                <a:solidFill>
                  <a:schemeClr val="tx2"/>
                </a:solidFill>
              </a:rPr>
              <a:t>Lineage and audit</a:t>
            </a:r>
            <a:endParaRPr lang="en-US" sz="1400" dirty="0"/>
          </a:p>
        </p:txBody>
      </p:sp>
      <p:sp>
        <p:nvSpPr>
          <p:cNvPr id="50" name="panel"/>
          <p:cNvSpPr/>
          <p:nvPr/>
        </p:nvSpPr>
        <p:spPr>
          <a:xfrm>
            <a:off x="9570476" y="5394960"/>
            <a:ext cx="2072579" cy="731520"/>
          </a:xfrm>
          <a:prstGeom prst="roundRect">
            <a:avLst>
              <a:gd name="adj" fmla="val 15000"/>
            </a:avLst>
          </a:prstGeom>
          <a:solidFill>
            <a:schemeClr val="bg2"/>
          </a:solidFill>
          <a:ln w="12700">
            <a:solidFill>
              <a:schemeClr val="bg2"/>
            </a:solidFill>
            <a:prstDash val="solid"/>
          </a:ln>
        </p:spPr>
      </p:sp>
      <p:pic>
        <p:nvPicPr>
          <p:cNvPr id="51" name="control-icon-4" descr="preencoded.png">    </p:cNvPr>
          <p:cNvPicPr>
            <a:picLocks noChangeAspect="1"/>
          </p:cNvPicPr>
          <p:nvPr/>
        </p:nvPicPr>
        <p:blipFill>
          <a:blip r:embed="rId5"/>
          <a:stretch>
            <a:fillRect/>
          </a:stretch>
        </p:blipFill>
        <p:spPr>
          <a:xfrm>
            <a:off x="9753356" y="5550408"/>
            <a:ext cx="420624" cy="420624"/>
          </a:xfrm>
          <a:prstGeom prst="rect">
            <a:avLst/>
          </a:prstGeom>
        </p:spPr>
      </p:pic>
      <p:sp>
        <p:nvSpPr>
          <p:cNvPr id="52" name="Text 45"/>
          <p:cNvSpPr txBox="1"/>
          <p:nvPr/>
        </p:nvSpPr>
        <p:spPr>
          <a:xfrm>
            <a:off x="10301996" y="5394960"/>
            <a:ext cx="1249619" cy="731520"/>
          </a:xfrm>
          <a:prstGeom prst="rect">
            <a:avLst/>
          </a:prstGeom>
          <a:noFill/>
          <a:ln/>
        </p:spPr>
        <p:txBody>
          <a:bodyPr wrap="square" lIns="0" tIns="0" rIns="0" bIns="0" rtlCol="0" anchor="ctr"/>
          <a:lstStyle/>
          <a:p>
            <a:pPr indent="0" marL="0">
              <a:buNone/>
            </a:pPr>
            <a:r>
              <a:rPr lang="en-US" sz="1400" b="1" dirty="0">
                <a:solidFill>
                  <a:schemeClr val="tx2"/>
                </a:solidFill>
              </a:rPr>
              <a:t>Offline training</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A library that calls home</a:t>
            </a:r>
            <a:endParaRPr lang="en-US" sz="3400" dirty="0"/>
          </a:p>
        </p:txBody>
      </p:sp>
      <p:sp>
        <p:nvSpPr>
          <p:cNvPr id="3" name="panel"/>
          <p:cNvSpPr/>
          <p:nvPr/>
        </p:nvSpPr>
        <p:spPr>
          <a:xfrm>
            <a:off x="548640" y="1417320"/>
            <a:ext cx="5806440" cy="4526280"/>
          </a:xfrm>
          <a:prstGeom prst="roundRect">
            <a:avLst>
              <a:gd name="adj" fmla="val 2424"/>
            </a:avLst>
          </a:prstGeom>
          <a:solidFill>
            <a:schemeClr val="bg2"/>
          </a:solidFill>
          <a:ln w="12700">
            <a:solidFill>
              <a:schemeClr val="bg2"/>
            </a:solidFill>
            <a:prstDash val="solid"/>
          </a:ln>
        </p:spPr>
      </p:sp>
      <p:sp>
        <p:nvSpPr>
          <p:cNvPr id="4" name="icon-circle"/>
          <p:cNvSpPr/>
          <p:nvPr/>
        </p:nvSpPr>
        <p:spPr>
          <a:xfrm>
            <a:off x="868680" y="1691640"/>
            <a:ext cx="731520" cy="731520"/>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6" name="Text 3"/>
          <p:cNvSpPr txBox="1"/>
          <p:nvPr/>
        </p:nvSpPr>
        <p:spPr>
          <a:xfrm>
            <a:off x="1828800" y="1645920"/>
            <a:ext cx="4343400" cy="4160520"/>
          </a:xfrm>
          <a:prstGeom prst="rect">
            <a:avLst/>
          </a:prstGeom>
          <a:noFill/>
          <a:ln/>
        </p:spPr>
        <p:txBody>
          <a:bodyPr wrap="square" lIns="0" tIns="0" rIns="0" bIns="0" rtlCol="0" anchor="t"/>
          <a:lstStyle/>
          <a:p>
            <a:pPr indent="0" marL="0">
              <a:buNone/>
            </a:pPr>
            <a:r>
              <a:rPr lang="en-US" sz="1600" b="1" dirty="0">
                <a:solidFill>
                  <a:schemeClr val="tx2"/>
                </a:solidFill>
              </a:rPr>
              <a:t>What I saw</a:t>
            </a:r>
            <a:endParaRPr lang="en-US" sz="1600" dirty="0"/>
          </a:p>
          <a:p>
            <a:pPr indent="0" marL="0">
              <a:buNone/>
            </a:pPr>
            <a:r>
              <a:rPr lang="en-US" sz="1400" dirty="0">
                <a:solidFill>
                  <a:schemeClr val="tx1"/>
                </a:solidFill>
              </a:rPr>
              <a:t>A test run of train.py warned that it was sending requests to the Hugging Face Hub, although CodeBERT was already in the local cache.</a:t>
            </a:r>
            <a:endParaRPr lang="en-US" sz="1600" dirty="0"/>
          </a:p>
          <a:p>
            <a:pPr indent="0" marL="0">
              <a:buNone/>
            </a:pPr>
            <a:r>
              <a:rPr lang="en-US" sz="800" dirty="0">
                <a:solidFill>
                  <a:srgbClr val="000000"/>
                </a:solidFill>
              </a:rPr>
              <a:t> </a:t>
            </a:r>
            <a:endParaRPr lang="en-US" sz="1600" dirty="0"/>
          </a:p>
          <a:p>
            <a:pPr indent="0" marL="0">
              <a:buNone/>
            </a:pPr>
            <a:r>
              <a:rPr lang="en-US" sz="1600" b="1" dirty="0">
                <a:solidFill>
                  <a:schemeClr val="tx2"/>
                </a:solidFill>
              </a:rPr>
              <a:t>Why</a:t>
            </a:r>
            <a:endParaRPr lang="en-US" sz="1600" dirty="0"/>
          </a:p>
          <a:p>
            <a:pPr indent="0" marL="0">
              <a:buNone/>
            </a:pPr>
            <a:r>
              <a:rPr lang="en-US" sz="1400" dirty="0">
                <a:solidFill>
                  <a:schemeClr val="tx1"/>
                </a:solidFill>
              </a:rPr>
              <a:t>When transformers loads a pickle .bin checkpoint, it starts a background thread that asks the Hub for a safetensors copy and can ask Hugging Face's conversion service to make one.</a:t>
            </a:r>
            <a:endParaRPr lang="en-US" sz="1600" dirty="0"/>
          </a:p>
          <a:p>
            <a:pPr indent="0" marL="0">
              <a:buNone/>
            </a:pPr>
            <a:r>
              <a:rPr lang="en-US" sz="800" dirty="0">
                <a:solidFill>
                  <a:srgbClr val="000000"/>
                </a:solidFill>
              </a:rPr>
              <a:t> </a:t>
            </a:r>
            <a:endParaRPr lang="en-US" sz="1600" dirty="0"/>
          </a:p>
          <a:p>
            <a:pPr indent="0" marL="0">
              <a:buNone/>
            </a:pPr>
            <a:r>
              <a:rPr lang="en-US" sz="1600" b="1" dirty="0">
                <a:solidFill>
                  <a:schemeClr val="tx2"/>
                </a:solidFill>
              </a:rPr>
              <a:t>What I did</a:t>
            </a:r>
            <a:endParaRPr lang="en-US" sz="1600" dirty="0"/>
          </a:p>
          <a:p>
            <a:pPr indent="0" marL="0">
              <a:buNone/>
            </a:pPr>
            <a:r>
              <a:rPr lang="en-US" sz="1400" dirty="0">
                <a:solidFill>
                  <a:schemeClr val="tx1"/>
                </a:solidFill>
              </a:rPr>
              <a:t>Switched it off (DISABLE_SAFETENSORS_CONVERSION=1), turned telemetry off, load from the cache only. The warning was gone.</a:t>
            </a:r>
            <a:endParaRPr lang="en-US" sz="1600" dirty="0"/>
          </a:p>
        </p:txBody>
      </p:sp>
      <p:sp>
        <p:nvSpPr>
          <p:cNvPr id="7" name="Text 4"/>
          <p:cNvSpPr txBox="1"/>
          <p:nvPr/>
        </p:nvSpPr>
        <p:spPr>
          <a:xfrm>
            <a:off x="6720840" y="1417320"/>
            <a:ext cx="4922215" cy="365760"/>
          </a:xfrm>
          <a:prstGeom prst="rect">
            <a:avLst/>
          </a:prstGeom>
          <a:noFill/>
          <a:ln/>
        </p:spPr>
        <p:txBody>
          <a:bodyPr wrap="square" lIns="0" tIns="0" rIns="0" bIns="0" rtlCol="0" anchor="ctr"/>
          <a:lstStyle/>
          <a:p>
            <a:pPr indent="0" marL="0">
              <a:buNone/>
            </a:pPr>
            <a:r>
              <a:rPr lang="en-US" sz="1500" b="1" dirty="0">
                <a:solidFill>
                  <a:schemeClr val="accent4"/>
                </a:solidFill>
              </a:rPr>
              <a:t>Other controls in the code</a:t>
            </a:r>
            <a:endParaRPr lang="en-US" sz="1500" dirty="0"/>
          </a:p>
        </p:txBody>
      </p:sp>
      <p:sp>
        <p:nvSpPr>
          <p:cNvPr id="8" name="icon-circle"/>
          <p:cNvSpPr/>
          <p:nvPr/>
        </p:nvSpPr>
        <p:spPr>
          <a:xfrm>
            <a:off x="6720840" y="1920240"/>
            <a:ext cx="566928" cy="566928"/>
          </a:xfrm>
          <a:prstGeom prst="ellipse">
            <a:avLst/>
          </a:prstGeom>
          <a:solidFill>
            <a:schemeClr val="tx2"/>
          </a:solidFill>
          <a:ln w="12700">
            <a:solidFill>
              <a:schemeClr val="tx2"/>
            </a:solidFill>
            <a:prstDash val="solid"/>
          </a:ln>
        </p:spPr>
      </p:sp>
      <p:pic>
        <p:nvPicPr>
          <p:cNvPr id="9" name="icon" descr="preencoded.png">    </p:cNvPr>
          <p:cNvPicPr>
            <a:picLocks noChangeAspect="1"/>
          </p:cNvPicPr>
          <p:nvPr/>
        </p:nvPicPr>
        <p:blipFill>
          <a:blip r:embed="rId2"/>
          <a:stretch>
            <a:fillRect/>
          </a:stretch>
        </p:blipFill>
        <p:spPr>
          <a:xfrm>
            <a:off x="6856903" y="2056303"/>
            <a:ext cx="294803" cy="294803"/>
          </a:xfrm>
          <a:prstGeom prst="rect">
            <a:avLst/>
          </a:prstGeom>
        </p:spPr>
      </p:pic>
      <p:sp>
        <p:nvSpPr>
          <p:cNvPr id="10" name="Text 6"/>
          <p:cNvSpPr txBox="1"/>
          <p:nvPr/>
        </p:nvSpPr>
        <p:spPr>
          <a:xfrm>
            <a:off x="7488936" y="1865376"/>
            <a:ext cx="4154119" cy="8686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Integrity</a:t>
            </a:r>
            <a:endParaRPr lang="en-US" sz="1600" dirty="0"/>
          </a:p>
          <a:p>
            <a:pPr indent="0" marL="0">
              <a:spcAft>
                <a:spcPts val="200"/>
              </a:spcAft>
              <a:buNone/>
            </a:pPr>
            <a:r>
              <a:rPr lang="en-US" sz="1400" dirty="0">
                <a:solidFill>
                  <a:schemeClr val="tx1"/>
                </a:solidFill>
              </a:rPr>
              <a:t>SHA-256 on both archives, the CWE catalog and every model file</a:t>
            </a:r>
            <a:endParaRPr lang="en-US" sz="1600" dirty="0"/>
          </a:p>
        </p:txBody>
      </p:sp>
      <p:sp>
        <p:nvSpPr>
          <p:cNvPr id="11" name="icon-circle"/>
          <p:cNvSpPr/>
          <p:nvPr/>
        </p:nvSpPr>
        <p:spPr>
          <a:xfrm>
            <a:off x="6720840" y="2880360"/>
            <a:ext cx="566928" cy="566928"/>
          </a:xfrm>
          <a:prstGeom prst="ellipse">
            <a:avLst/>
          </a:prstGeom>
          <a:solidFill>
            <a:schemeClr val="tx2"/>
          </a:solidFill>
          <a:ln w="12700">
            <a:solidFill>
              <a:schemeClr val="tx2"/>
            </a:solidFill>
            <a:prstDash val="solid"/>
          </a:ln>
        </p:spPr>
      </p:sp>
      <p:pic>
        <p:nvPicPr>
          <p:cNvPr id="12" name="icon" descr="preencoded.png">    </p:cNvPr>
          <p:cNvPicPr>
            <a:picLocks noChangeAspect="1"/>
          </p:cNvPicPr>
          <p:nvPr/>
        </p:nvPicPr>
        <p:blipFill>
          <a:blip r:embed="rId3"/>
          <a:stretch>
            <a:fillRect/>
          </a:stretch>
        </p:blipFill>
        <p:spPr>
          <a:xfrm>
            <a:off x="6856903" y="3016423"/>
            <a:ext cx="294803" cy="294803"/>
          </a:xfrm>
          <a:prstGeom prst="rect">
            <a:avLst/>
          </a:prstGeom>
        </p:spPr>
      </p:pic>
      <p:sp>
        <p:nvSpPr>
          <p:cNvPr id="13" name="Text 8"/>
          <p:cNvSpPr txBox="1"/>
          <p:nvPr/>
        </p:nvSpPr>
        <p:spPr>
          <a:xfrm>
            <a:off x="7488936" y="2825496"/>
            <a:ext cx="4154119" cy="8686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Least privilege</a:t>
            </a:r>
            <a:endParaRPr lang="en-US" sz="1600" dirty="0"/>
          </a:p>
          <a:p>
            <a:pPr indent="0" marL="0">
              <a:spcAft>
                <a:spcPts val="200"/>
              </a:spcAft>
              <a:buNone/>
            </a:pPr>
            <a:r>
              <a:rPr lang="en-US" sz="1400" dirty="0">
                <a:solidFill>
                  <a:schemeClr val="tx1"/>
                </a:solidFill>
              </a:rPr>
              <a:t>raw files read-only, warehouse readable by its owner, read-only connections</a:t>
            </a:r>
            <a:endParaRPr lang="en-US" sz="1600" dirty="0"/>
          </a:p>
        </p:txBody>
      </p:sp>
      <p:sp>
        <p:nvSpPr>
          <p:cNvPr id="14" name="icon-circle"/>
          <p:cNvSpPr/>
          <p:nvPr/>
        </p:nvSpPr>
        <p:spPr>
          <a:xfrm>
            <a:off x="6720840" y="3840480"/>
            <a:ext cx="566928" cy="566928"/>
          </a:xfrm>
          <a:prstGeom prst="ellipse">
            <a:avLst/>
          </a:prstGeom>
          <a:solidFill>
            <a:schemeClr val="tx2"/>
          </a:solidFill>
          <a:ln w="12700">
            <a:solidFill>
              <a:schemeClr val="tx2"/>
            </a:solidFill>
            <a:prstDash val="solid"/>
          </a:ln>
        </p:spPr>
      </p:sp>
      <p:pic>
        <p:nvPicPr>
          <p:cNvPr id="15" name="icon" descr="preencoded.png">    </p:cNvPr>
          <p:cNvPicPr>
            <a:picLocks noChangeAspect="1"/>
          </p:cNvPicPr>
          <p:nvPr/>
        </p:nvPicPr>
        <p:blipFill>
          <a:blip r:embed="rId4"/>
          <a:stretch>
            <a:fillRect/>
          </a:stretch>
        </p:blipFill>
        <p:spPr>
          <a:xfrm>
            <a:off x="6856903" y="3976543"/>
            <a:ext cx="294803" cy="294803"/>
          </a:xfrm>
          <a:prstGeom prst="rect">
            <a:avLst/>
          </a:prstGeom>
        </p:spPr>
      </p:pic>
      <p:sp>
        <p:nvSpPr>
          <p:cNvPr id="16" name="Text 10"/>
          <p:cNvSpPr txBox="1"/>
          <p:nvPr/>
        </p:nvSpPr>
        <p:spPr>
          <a:xfrm>
            <a:off x="7488936" y="3785616"/>
            <a:ext cx="4154119" cy="8686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Safe model files</a:t>
            </a:r>
            <a:endParaRPr lang="en-US" sz="1600" dirty="0"/>
          </a:p>
          <a:p>
            <a:pPr indent="0" marL="0">
              <a:spcAft>
                <a:spcPts val="200"/>
              </a:spcAft>
              <a:buNone/>
            </a:pPr>
            <a:r>
              <a:rPr lang="en-US" sz="1400" dirty="0">
                <a:solidFill>
                  <a:schemeClr val="tx1"/>
                </a:solidFill>
              </a:rPr>
              <a:t>my weights as safetensors; demo.py refuses a file whose hash changed</a:t>
            </a:r>
            <a:endParaRPr lang="en-US" sz="1600" dirty="0"/>
          </a:p>
        </p:txBody>
      </p:sp>
      <p:sp>
        <p:nvSpPr>
          <p:cNvPr id="17" name="icon-circle"/>
          <p:cNvSpPr/>
          <p:nvPr/>
        </p:nvSpPr>
        <p:spPr>
          <a:xfrm>
            <a:off x="6720840" y="4800600"/>
            <a:ext cx="566928" cy="566928"/>
          </a:xfrm>
          <a:prstGeom prst="ellipse">
            <a:avLst/>
          </a:prstGeom>
          <a:solidFill>
            <a:schemeClr val="tx2"/>
          </a:solidFill>
          <a:ln w="12700">
            <a:solidFill>
              <a:schemeClr val="tx2"/>
            </a:solidFill>
            <a:prstDash val="solid"/>
          </a:ln>
        </p:spPr>
      </p:sp>
      <p:pic>
        <p:nvPicPr>
          <p:cNvPr id="18" name="icon" descr="preencoded.png">    </p:cNvPr>
          <p:cNvPicPr>
            <a:picLocks noChangeAspect="1"/>
          </p:cNvPicPr>
          <p:nvPr/>
        </p:nvPicPr>
        <p:blipFill>
          <a:blip r:embed="rId5"/>
          <a:stretch>
            <a:fillRect/>
          </a:stretch>
        </p:blipFill>
        <p:spPr>
          <a:xfrm>
            <a:off x="6856903" y="4936663"/>
            <a:ext cx="294803" cy="294803"/>
          </a:xfrm>
          <a:prstGeom prst="rect">
            <a:avLst/>
          </a:prstGeom>
        </p:spPr>
      </p:pic>
      <p:sp>
        <p:nvSpPr>
          <p:cNvPr id="19" name="Text 12"/>
          <p:cNvSpPr txBox="1"/>
          <p:nvPr/>
        </p:nvSpPr>
        <p:spPr>
          <a:xfrm>
            <a:off x="7488936" y="4745736"/>
            <a:ext cx="4154119" cy="86868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Pickle loading</a:t>
            </a:r>
            <a:endParaRPr lang="en-US" sz="1600" dirty="0"/>
          </a:p>
          <a:p>
            <a:pPr indent="0" marL="0">
              <a:spcAft>
                <a:spcPts val="200"/>
              </a:spcAft>
              <a:buNone/>
            </a:pPr>
            <a:r>
              <a:rPr lang="en-US" sz="1400" dirty="0">
                <a:solidFill>
                  <a:schemeClr val="tx1"/>
                </a:solidFill>
              </a:rPr>
              <a:t>the base .bin loads with weights_only, torch 2.14 (CVE-2025-32434)</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Who owns the data, and the rules I follow</a:t>
            </a:r>
            <a:endParaRPr lang="en-US" sz="3400" dirty="0"/>
          </a:p>
        </p:txBody>
      </p:sp>
      <p:graphicFrame>
        <p:nvGraphicFramePr>
          <p:cNvPr id="9" name="ownership"/>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1554480"/>
                <a:gridCol w="2103120"/>
                <a:gridCol w="2377440"/>
              </a:tblGrid>
              <a:tr h="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Asset</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Licence and use</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X1 dataset</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dataset authors (GitHub rmusab)</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 licence file: study use only, not redistributed</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CodeBERT</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Microsoft</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MIT licence (GitHub)</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CWE catalog</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MITRE</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reuse with MITRE's notice</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Warehouse, models</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 (the student)</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me and the lecturer only</a:t>
                      </a:r>
                      <a:endParaRPr lang="en-US" sz="1300" dirty="0">
                        <a:latin typeface="Calibri" charset="0"/>
                        <a:ea typeface="Calibri" charset="0"/>
                        <a:cs typeface="Calibri" charset="0"/>
                      </a:endParaRPr>
                    </a:p>
                  </a:txBody>
                  <a:tcPr marL="91440" marR="91440" marT="54864" marB="54864">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069080"/>
            <a:ext cx="6035040" cy="731520"/>
          </a:xfrm>
          <a:prstGeom prst="rect">
            <a:avLst/>
          </a:prstGeom>
          <a:noFill/>
          <a:ln/>
        </p:spPr>
        <p:txBody>
          <a:bodyPr wrap="square" lIns="0" tIns="0" rIns="0" bIns="0" rtlCol="0" anchor="t"/>
          <a:lstStyle/>
          <a:p>
            <a:pPr indent="0" marL="0">
              <a:buNone/>
            </a:pPr>
            <a:r>
              <a:rPr lang="en-US" sz="1400" b="1" dirty="0">
                <a:solidFill>
                  <a:schemeClr val="tx2"/>
                </a:solidFill>
              </a:rPr>
              <a:t>Roles (RACI): </a:t>
            </a:r>
            <a:pPr indent="0" marL="0">
              <a:buNone/>
            </a:pPr>
            <a:r>
              <a:rPr lang="en-US" sz="1400" dirty="0">
                <a:solidFill>
                  <a:schemeClr val="tx1"/>
                </a:solidFill>
              </a:rPr>
              <a:t>data owner, data steward, data and ML engineer, compliance, security. Full matrix in the report.</a:t>
            </a:r>
            <a:endParaRPr lang="en-US" sz="1400" dirty="0"/>
          </a:p>
        </p:txBody>
      </p:sp>
      <p:sp>
        <p:nvSpPr>
          <p:cNvPr id="5" name="Text 2"/>
          <p:cNvSpPr txBox="1"/>
          <p:nvPr/>
        </p:nvSpPr>
        <p:spPr>
          <a:xfrm>
            <a:off x="548640" y="4846320"/>
            <a:ext cx="6035040" cy="731520"/>
          </a:xfrm>
          <a:prstGeom prst="rect">
            <a:avLst/>
          </a:prstGeom>
          <a:noFill/>
          <a:ln/>
        </p:spPr>
        <p:txBody>
          <a:bodyPr wrap="square" lIns="0" tIns="0" rIns="0" bIns="0" rtlCol="0" anchor="t"/>
          <a:lstStyle/>
          <a:p>
            <a:pPr indent="0" marL="0">
              <a:buNone/>
            </a:pPr>
            <a:r>
              <a:rPr lang="en-US" sz="1400" b="1" dirty="0">
                <a:solidFill>
                  <a:schemeClr val="tx2"/>
                </a:solidFill>
              </a:rPr>
              <a:t>Law: </a:t>
            </a:r>
            <a:pPr indent="0" marL="0">
              <a:buNone/>
            </a:pPr>
            <a:r>
              <a:rPr lang="en-US" sz="1400" dirty="0">
                <a:solidFill>
                  <a:schemeClr val="tx1"/>
                </a:solidFill>
              </a:rPr>
              <a:t>a commit id leads to its author, so under GDPR and Kazakhstan Law 94-V it is indirectly personal data.</a:t>
            </a:r>
            <a:endParaRPr lang="en-US" sz="1400" dirty="0"/>
          </a:p>
        </p:txBody>
      </p:sp>
      <p:sp>
        <p:nvSpPr>
          <p:cNvPr id="6" name="icon-circle"/>
          <p:cNvSpPr/>
          <p:nvPr/>
        </p:nvSpPr>
        <p:spPr>
          <a:xfrm>
            <a:off x="6995160" y="1417320"/>
            <a:ext cx="566928" cy="566928"/>
          </a:xfrm>
          <a:prstGeom prst="ellipse">
            <a:avLst/>
          </a:prstGeom>
          <a:solidFill>
            <a:schemeClr val="tx2"/>
          </a:solidFill>
          <a:ln w="12700">
            <a:solidFill>
              <a:schemeClr val="tx2"/>
            </a:solidFill>
            <a:prstDash val="solid"/>
          </a:ln>
        </p:spPr>
      </p:sp>
      <p:pic>
        <p:nvPicPr>
          <p:cNvPr id="7" name="icon" descr="preencoded.png">    </p:cNvPr>
          <p:cNvPicPr>
            <a:picLocks noChangeAspect="1"/>
          </p:cNvPicPr>
          <p:nvPr/>
        </p:nvPicPr>
        <p:blipFill>
          <a:blip r:embed="rId1"/>
          <a:stretch>
            <a:fillRect/>
          </a:stretch>
        </p:blipFill>
        <p:spPr>
          <a:xfrm>
            <a:off x="7131223" y="1553383"/>
            <a:ext cx="294803" cy="294803"/>
          </a:xfrm>
          <a:prstGeom prst="rect">
            <a:avLst/>
          </a:prstGeom>
        </p:spPr>
      </p:pic>
      <p:sp>
        <p:nvSpPr>
          <p:cNvPr id="8" name="Text 4"/>
          <p:cNvSpPr txBox="1"/>
          <p:nvPr/>
        </p:nvSpPr>
        <p:spPr>
          <a:xfrm>
            <a:off x="7763256" y="1362456"/>
            <a:ext cx="3879799" cy="9601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A triage aid, never a gate</a:t>
            </a:r>
            <a:endParaRPr lang="en-US" sz="1600" dirty="0"/>
          </a:p>
          <a:p>
            <a:pPr indent="0" marL="0">
              <a:spcAft>
                <a:spcPts val="200"/>
              </a:spcAft>
              <a:buNone/>
            </a:pPr>
            <a:r>
              <a:rPr lang="en-US" sz="1400" dirty="0">
                <a:solidFill>
                  <a:schemeClr val="tx1"/>
                </a:solidFill>
              </a:rPr>
              <a:t>code is never called safe because the model did not flag it</a:t>
            </a:r>
            <a:endParaRPr lang="en-US" sz="1600" dirty="0"/>
          </a:p>
        </p:txBody>
      </p:sp>
      <p:sp>
        <p:nvSpPr>
          <p:cNvPr id="9" name="icon-circle"/>
          <p:cNvSpPr/>
          <p:nvPr/>
        </p:nvSpPr>
        <p:spPr>
          <a:xfrm>
            <a:off x="6995160" y="2560320"/>
            <a:ext cx="566928" cy="566928"/>
          </a:xfrm>
          <a:prstGeom prst="ellipse">
            <a:avLst/>
          </a:prstGeom>
          <a:solidFill>
            <a:schemeClr val="tx2"/>
          </a:solidFill>
          <a:ln w="12700">
            <a:solidFill>
              <a:schemeClr val="tx2"/>
            </a:solidFill>
            <a:prstDash val="solid"/>
          </a:ln>
        </p:spPr>
      </p:sp>
      <p:pic>
        <p:nvPicPr>
          <p:cNvPr id="10" name="icon" descr="preencoded.png">    </p:cNvPr>
          <p:cNvPicPr>
            <a:picLocks noChangeAspect="1"/>
          </p:cNvPicPr>
          <p:nvPr/>
        </p:nvPicPr>
        <p:blipFill>
          <a:blip r:embed="rId2"/>
          <a:stretch>
            <a:fillRect/>
          </a:stretch>
        </p:blipFill>
        <p:spPr>
          <a:xfrm>
            <a:off x="7131223" y="2696383"/>
            <a:ext cx="294803" cy="294803"/>
          </a:xfrm>
          <a:prstGeom prst="rect">
            <a:avLst/>
          </a:prstGeom>
        </p:spPr>
      </p:pic>
      <p:sp>
        <p:nvSpPr>
          <p:cNvPr id="11" name="Text 6"/>
          <p:cNvSpPr txBox="1"/>
          <p:nvPr/>
        </p:nvSpPr>
        <p:spPr>
          <a:xfrm>
            <a:off x="7763256" y="2505456"/>
            <a:ext cx="3879799" cy="9601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No analysis of people</a:t>
            </a:r>
            <a:endParaRPr lang="en-US" sz="1600" dirty="0"/>
          </a:p>
          <a:p>
            <a:pPr indent="0" marL="0">
              <a:spcAft>
                <a:spcPts val="200"/>
              </a:spcAft>
              <a:buNone/>
            </a:pPr>
            <a:r>
              <a:rPr lang="en-US" sz="1400" dirty="0">
                <a:solidFill>
                  <a:schemeClr val="tx1"/>
                </a:solidFill>
              </a:rPr>
              <a:t>I never look up commit authors or rank developers</a:t>
            </a:r>
            <a:endParaRPr lang="en-US" sz="1600" dirty="0"/>
          </a:p>
        </p:txBody>
      </p:sp>
      <p:sp>
        <p:nvSpPr>
          <p:cNvPr id="12" name="icon-circle"/>
          <p:cNvSpPr/>
          <p:nvPr/>
        </p:nvSpPr>
        <p:spPr>
          <a:xfrm>
            <a:off x="6995160" y="3703320"/>
            <a:ext cx="566928" cy="566928"/>
          </a:xfrm>
          <a:prstGeom prst="ellipse">
            <a:avLst/>
          </a:prstGeom>
          <a:solidFill>
            <a:schemeClr val="tx2"/>
          </a:solidFill>
          <a:ln w="12700">
            <a:solidFill>
              <a:schemeClr val="tx2"/>
            </a:solidFill>
            <a:prstDash val="solid"/>
          </a:ln>
        </p:spPr>
      </p:sp>
      <p:pic>
        <p:nvPicPr>
          <p:cNvPr id="13" name="icon" descr="preencoded.png">    </p:cNvPr>
          <p:cNvPicPr>
            <a:picLocks noChangeAspect="1"/>
          </p:cNvPicPr>
          <p:nvPr/>
        </p:nvPicPr>
        <p:blipFill>
          <a:blip r:embed="rId3"/>
          <a:stretch>
            <a:fillRect/>
          </a:stretch>
        </p:blipFill>
        <p:spPr>
          <a:xfrm>
            <a:off x="7131223" y="3839383"/>
            <a:ext cx="294803" cy="294803"/>
          </a:xfrm>
          <a:prstGeom prst="rect">
            <a:avLst/>
          </a:prstGeom>
        </p:spPr>
      </p:pic>
      <p:sp>
        <p:nvSpPr>
          <p:cNvPr id="14" name="Text 8"/>
          <p:cNvSpPr txBox="1"/>
          <p:nvPr/>
        </p:nvSpPr>
        <p:spPr>
          <a:xfrm>
            <a:off x="7763256" y="3648456"/>
            <a:ext cx="3879799" cy="9601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Labels are never edited</a:t>
            </a:r>
            <a:endParaRPr lang="en-US" sz="1600" dirty="0"/>
          </a:p>
          <a:p>
            <a:pPr indent="0" marL="0">
              <a:spcAft>
                <a:spcPts val="200"/>
              </a:spcAft>
              <a:buNone/>
            </a:pPr>
            <a:r>
              <a:rPr lang="en-US" sz="1400" dirty="0">
                <a:solidFill>
                  <a:schemeClr val="tx1"/>
                </a:solidFill>
              </a:rPr>
              <a:t>conflicts wait in quarantine for a security expert</a:t>
            </a:r>
            <a:endParaRPr lang="en-US" sz="1600" dirty="0"/>
          </a:p>
        </p:txBody>
      </p:sp>
      <p:sp>
        <p:nvSpPr>
          <p:cNvPr id="15" name="icon-circle"/>
          <p:cNvSpPr/>
          <p:nvPr/>
        </p:nvSpPr>
        <p:spPr>
          <a:xfrm>
            <a:off x="6995160" y="4846320"/>
            <a:ext cx="566928" cy="566928"/>
          </a:xfrm>
          <a:prstGeom prst="ellipse">
            <a:avLst/>
          </a:prstGeom>
          <a:solidFill>
            <a:schemeClr val="tx2"/>
          </a:solidFill>
          <a:ln w="12700">
            <a:solidFill>
              <a:schemeClr val="tx2"/>
            </a:solidFill>
            <a:prstDash val="solid"/>
          </a:ln>
        </p:spPr>
      </p:sp>
      <p:pic>
        <p:nvPicPr>
          <p:cNvPr id="16" name="icon" descr="preencoded.png">    </p:cNvPr>
          <p:cNvPicPr>
            <a:picLocks noChangeAspect="1"/>
          </p:cNvPicPr>
          <p:nvPr/>
        </p:nvPicPr>
        <p:blipFill>
          <a:blip r:embed="rId4"/>
          <a:stretch>
            <a:fillRect/>
          </a:stretch>
        </p:blipFill>
        <p:spPr>
          <a:xfrm>
            <a:off x="7131223" y="4982383"/>
            <a:ext cx="294803" cy="294803"/>
          </a:xfrm>
          <a:prstGeom prst="rect">
            <a:avLst/>
          </a:prstGeom>
        </p:spPr>
      </p:pic>
      <p:sp>
        <p:nvSpPr>
          <p:cNvPr id="17" name="Text 10"/>
          <p:cNvSpPr txBox="1"/>
          <p:nvPr/>
        </p:nvSpPr>
        <p:spPr>
          <a:xfrm>
            <a:off x="7763256" y="4791456"/>
            <a:ext cx="3879799" cy="960120"/>
          </a:xfrm>
          <a:prstGeom prst="rect">
            <a:avLst/>
          </a:prstGeom>
          <a:noFill/>
          <a:ln/>
        </p:spPr>
        <p:txBody>
          <a:bodyPr wrap="square" lIns="0" tIns="0" rIns="0" bIns="0" rtlCol="0" anchor="t"/>
          <a:lstStyle/>
          <a:p>
            <a:pPr indent="0" marL="0">
              <a:spcAft>
                <a:spcPts val="200"/>
              </a:spcAft>
              <a:buNone/>
            </a:pPr>
            <a:r>
              <a:rPr lang="en-US" sz="1600" b="1" dirty="0">
                <a:solidFill>
                  <a:schemeClr val="tx2"/>
                </a:solidFill>
              </a:rPr>
              <a:t>No model without a record</a:t>
            </a:r>
            <a:endParaRPr lang="en-US" sz="1600" dirty="0"/>
          </a:p>
          <a:p>
            <a:pPr indent="0" marL="0">
              <a:spcAft>
                <a:spcPts val="200"/>
              </a:spcAft>
              <a:buNone/>
            </a:pPr>
            <a:r>
              <a:rPr lang="en-US" sz="1400" dirty="0">
                <a:solidFill>
                  <a:schemeClr val="tx1"/>
                </a:solidFill>
              </a:rPr>
              <a:t>data version, configuration and SHA-256 for every run</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CodeBERT with a class-weighted loss</a:t>
            </a:r>
            <a:endParaRPr lang="en-US" sz="3400" dirty="0"/>
          </a:p>
        </p:txBody>
      </p:sp>
      <p:sp>
        <p:nvSpPr>
          <p:cNvPr id="3" name="panel"/>
          <p:cNvSpPr/>
          <p:nvPr/>
        </p:nvSpPr>
        <p:spPr>
          <a:xfrm>
            <a:off x="548640" y="1417320"/>
            <a:ext cx="3474720" cy="3657600"/>
          </a:xfrm>
          <a:prstGeom prst="roundRect">
            <a:avLst>
              <a:gd name="adj" fmla="val 3158"/>
            </a:avLst>
          </a:prstGeom>
          <a:solidFill>
            <a:schemeClr val="bg2"/>
          </a:solidFill>
          <a:ln w="12700">
            <a:solidFill>
              <a:schemeClr val="bg2"/>
            </a:solidFill>
            <a:prstDash val="solid"/>
          </a:ln>
        </p:spPr>
      </p:sp>
      <p:sp>
        <p:nvSpPr>
          <p:cNvPr id="4" name="Text 2"/>
          <p:cNvSpPr txBox="1"/>
          <p:nvPr/>
        </p:nvSpPr>
        <p:spPr>
          <a:xfrm>
            <a:off x="822960" y="1600200"/>
            <a:ext cx="2926080" cy="1737360"/>
          </a:xfrm>
          <a:prstGeom prst="rect">
            <a:avLst/>
          </a:prstGeom>
          <a:noFill/>
          <a:ln/>
        </p:spPr>
        <p:txBody>
          <a:bodyPr wrap="square" lIns="0" tIns="0" rIns="0" bIns="0" rtlCol="0" anchor="t"/>
          <a:lstStyle/>
          <a:p>
            <a:pPr indent="0" marL="0">
              <a:buNone/>
            </a:pPr>
            <a:r>
              <a:rPr lang="en-US" sz="1600" b="1" dirty="0">
                <a:solidFill>
                  <a:schemeClr val="tx2"/>
                </a:solidFill>
              </a:rPr>
              <a:t>Model</a:t>
            </a:r>
            <a:endParaRPr lang="en-US" sz="1600" dirty="0"/>
          </a:p>
          <a:p>
            <a:pPr indent="0" marL="0">
              <a:buNone/>
            </a:pPr>
            <a:r>
              <a:rPr lang="en-US" sz="1400" dirty="0">
                <a:solidFill>
                  <a:schemeClr val="tx1"/>
                </a:solidFill>
              </a:rPr>
              <a:t>CodeBERT: 125 million parameters, pretrained on code. A classification head says vulnerable or not. All weights are fine-tuned.</a:t>
            </a:r>
            <a:endParaRPr lang="en-US" sz="1600" dirty="0"/>
          </a:p>
        </p:txBody>
      </p:sp>
      <p:sp>
        <p:nvSpPr>
          <p:cNvPr id="5" name="Text 3"/>
          <p:cNvSpPr txBox="1"/>
          <p:nvPr/>
        </p:nvSpPr>
        <p:spPr>
          <a:xfrm>
            <a:off x="822960" y="3337560"/>
            <a:ext cx="2926080" cy="1645920"/>
          </a:xfrm>
          <a:prstGeom prst="rect">
            <a:avLst/>
          </a:prstGeom>
          <a:noFill/>
          <a:ln/>
        </p:spPr>
        <p:txBody>
          <a:bodyPr wrap="square" lIns="0" tIns="0" rIns="0" bIns="0" rtlCol="0" anchor="t"/>
          <a:lstStyle/>
          <a:p>
            <a:pPr indent="0" marL="0">
              <a:buNone/>
            </a:pPr>
            <a:r>
              <a:rPr lang="en-US" sz="1600" b="1" dirty="0">
                <a:solidFill>
                  <a:schemeClr val="tx2"/>
                </a:solidFill>
              </a:rPr>
              <a:t>Alternative</a:t>
            </a:r>
            <a:endParaRPr lang="en-US" sz="1600" dirty="0"/>
          </a:p>
          <a:p>
            <a:pPr indent="0" marL="0">
              <a:buNone/>
            </a:pPr>
            <a:r>
              <a:rPr lang="en-US" sz="1400" dirty="0">
                <a:solidFill>
                  <a:schemeClr val="tx1"/>
                </a:solidFill>
              </a:rPr>
              <a:t>CodeBERT frozen; the mean of its last layer goes into a class-weighted logistic regression: 769 numbers trained.</a:t>
            </a:r>
            <a:endParaRPr lang="en-US" sz="1600" dirty="0"/>
          </a:p>
        </p:txBody>
      </p:sp>
      <p:sp>
        <p:nvSpPr>
          <p:cNvPr id="6" name="Text 4"/>
          <p:cNvSpPr txBox="1"/>
          <p:nvPr/>
        </p:nvSpPr>
        <p:spPr>
          <a:xfrm>
            <a:off x="4343400" y="1417320"/>
            <a:ext cx="3840480" cy="411480"/>
          </a:xfrm>
          <a:prstGeom prst="rect">
            <a:avLst/>
          </a:prstGeom>
          <a:noFill/>
          <a:ln/>
        </p:spPr>
        <p:txBody>
          <a:bodyPr wrap="square" lIns="0" tIns="0" rIns="0" bIns="0" rtlCol="0" anchor="ctr"/>
          <a:lstStyle/>
          <a:p>
            <a:pPr indent="0" marL="0">
              <a:buNone/>
            </a:pPr>
            <a:r>
              <a:rPr lang="en-US" sz="1500" b="1" dirty="0">
                <a:solidFill>
                  <a:schemeClr val="tx2"/>
                </a:solidFill>
              </a:rPr>
              <a:t>Class weights  w = N / (2 · N of the class)</a:t>
            </a:r>
            <a:endParaRPr lang="en-US" sz="1500" dirty="0"/>
          </a:p>
        </p:txBody>
      </p:sp>
      <p:sp>
        <p:nvSpPr>
          <p:cNvPr id="7" name="Text 5"/>
          <p:cNvSpPr txBox="1"/>
          <p:nvPr/>
        </p:nvSpPr>
        <p:spPr>
          <a:xfrm>
            <a:off x="4343400" y="1920240"/>
            <a:ext cx="1828800" cy="82296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0.515</a:t>
            </a:r>
            <a:endParaRPr lang="en-US" sz="4400" dirty="0"/>
          </a:p>
        </p:txBody>
      </p:sp>
      <p:sp>
        <p:nvSpPr>
          <p:cNvPr id="8" name="Text 6"/>
          <p:cNvSpPr txBox="1"/>
          <p:nvPr/>
        </p:nvSpPr>
        <p:spPr>
          <a:xfrm>
            <a:off x="4343400" y="2743200"/>
            <a:ext cx="1828800" cy="365760"/>
          </a:xfrm>
          <a:prstGeom prst="rect">
            <a:avLst/>
          </a:prstGeom>
          <a:noFill/>
          <a:ln/>
        </p:spPr>
        <p:txBody>
          <a:bodyPr wrap="square" lIns="0" tIns="0" rIns="0" bIns="0" rtlCol="0" anchor="ctr"/>
          <a:lstStyle/>
          <a:p>
            <a:pPr indent="0" marL="0">
              <a:buNone/>
            </a:pPr>
            <a:r>
              <a:rPr lang="en-US" sz="1400" dirty="0">
                <a:solidFill>
                  <a:schemeClr val="tx1"/>
                </a:solidFill>
              </a:rPr>
              <a:t>not vulnerable</a:t>
            </a:r>
            <a:endParaRPr lang="en-US" sz="1400" dirty="0"/>
          </a:p>
        </p:txBody>
      </p:sp>
      <p:sp>
        <p:nvSpPr>
          <p:cNvPr id="9" name="Text 7"/>
          <p:cNvSpPr txBox="1"/>
          <p:nvPr/>
        </p:nvSpPr>
        <p:spPr>
          <a:xfrm>
            <a:off x="6309360" y="1920240"/>
            <a:ext cx="182880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16.68</a:t>
            </a:r>
            <a:endParaRPr lang="en-US" sz="4400" dirty="0"/>
          </a:p>
        </p:txBody>
      </p:sp>
      <p:sp>
        <p:nvSpPr>
          <p:cNvPr id="10" name="Text 8"/>
          <p:cNvSpPr txBox="1"/>
          <p:nvPr/>
        </p:nvSpPr>
        <p:spPr>
          <a:xfrm>
            <a:off x="6309360" y="2743200"/>
            <a:ext cx="1828800" cy="365760"/>
          </a:xfrm>
          <a:prstGeom prst="rect">
            <a:avLst/>
          </a:prstGeom>
          <a:noFill/>
          <a:ln/>
        </p:spPr>
        <p:txBody>
          <a:bodyPr wrap="square" lIns="0" tIns="0" rIns="0" bIns="0" rtlCol="0" anchor="ctr"/>
          <a:lstStyle/>
          <a:p>
            <a:pPr indent="0" marL="0">
              <a:buNone/>
            </a:pPr>
            <a:r>
              <a:rPr lang="en-US" sz="1400" dirty="0">
                <a:solidFill>
                  <a:schemeClr val="tx1"/>
                </a:solidFill>
              </a:rPr>
              <a:t>vulnerable</a:t>
            </a:r>
            <a:endParaRPr lang="en-US" sz="1400" dirty="0"/>
          </a:p>
        </p:txBody>
      </p:sp>
      <p:sp>
        <p:nvSpPr>
          <p:cNvPr id="11" name="Text 9"/>
          <p:cNvSpPr txBox="1"/>
          <p:nvPr/>
        </p:nvSpPr>
        <p:spPr>
          <a:xfrm>
            <a:off x="4343400" y="3291840"/>
            <a:ext cx="3749040" cy="914400"/>
          </a:xfrm>
          <a:prstGeom prst="rect">
            <a:avLst/>
          </a:prstGeom>
          <a:noFill/>
          <a:ln/>
        </p:spPr>
        <p:txBody>
          <a:bodyPr wrap="square" lIns="0" tIns="0" rIns="0" bIns="0" rtlCol="0" anchor="ctr"/>
          <a:lstStyle/>
          <a:p>
            <a:pPr indent="0" marL="0">
              <a:buNone/>
            </a:pPr>
            <a:r>
              <a:rPr lang="en-US" sz="1400" dirty="0">
                <a:solidFill>
                  <a:schemeClr val="tx1"/>
                </a:solidFill>
              </a:rPr>
              <a:t>One vulnerable function counts as much as 32 others. Ablations: no weights, and the square root of these weights.</a:t>
            </a:r>
            <a:endParaRPr lang="en-US" sz="1400" dirty="0"/>
          </a:p>
        </p:txBody>
      </p:sp>
      <p:sp>
        <p:nvSpPr>
          <p:cNvPr id="12" name="Text 10"/>
          <p:cNvSpPr txBox="1"/>
          <p:nvPr/>
        </p:nvSpPr>
        <p:spPr>
          <a:xfrm>
            <a:off x="8549640" y="1417320"/>
            <a:ext cx="3093415" cy="411480"/>
          </a:xfrm>
          <a:prstGeom prst="rect">
            <a:avLst/>
          </a:prstGeom>
          <a:noFill/>
          <a:ln/>
        </p:spPr>
        <p:txBody>
          <a:bodyPr wrap="square" lIns="0" tIns="0" rIns="0" bIns="0" rtlCol="0" anchor="ctr"/>
          <a:lstStyle/>
          <a:p>
            <a:pPr indent="0" marL="0">
              <a:buNone/>
            </a:pPr>
            <a:r>
              <a:rPr lang="en-US" sz="1500" b="1" dirty="0">
                <a:solidFill>
                  <a:schemeClr val="tx2"/>
                </a:solidFill>
              </a:rPr>
              <a:t>Protocol of the paper</a:t>
            </a:r>
            <a:endParaRPr lang="en-US" sz="1500" dirty="0"/>
          </a:p>
        </p:txBody>
      </p:sp>
      <p:sp>
        <p:nvSpPr>
          <p:cNvPr id="13" name="protocol-1"/>
          <p:cNvSpPr/>
          <p:nvPr/>
        </p:nvSpPr>
        <p:spPr>
          <a:xfrm>
            <a:off x="8549640" y="1965960"/>
            <a:ext cx="457200" cy="457200"/>
          </a:xfrm>
          <a:prstGeom prst="ellipse">
            <a:avLst/>
          </a:prstGeom>
          <a:solidFill>
            <a:schemeClr val="tx2"/>
          </a:solidFill>
          <a:ln w="12700">
            <a:solidFill>
              <a:schemeClr val="tx2"/>
            </a:solidFill>
            <a:prstDash val="solid"/>
          </a:ln>
        </p:spPr>
      </p:sp>
      <p:sp>
        <p:nvSpPr>
          <p:cNvPr id="14" name="Text 12"/>
          <p:cNvSpPr txBox="1"/>
          <p:nvPr/>
        </p:nvSpPr>
        <p:spPr>
          <a:xfrm>
            <a:off x="8549640" y="1965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5" name="Text 13"/>
          <p:cNvSpPr txBox="1"/>
          <p:nvPr/>
        </p:nvSpPr>
        <p:spPr>
          <a:xfrm>
            <a:off x="9144000" y="1920240"/>
            <a:ext cx="2499055" cy="594360"/>
          </a:xfrm>
          <a:prstGeom prst="rect">
            <a:avLst/>
          </a:prstGeom>
          <a:noFill/>
          <a:ln/>
        </p:spPr>
        <p:txBody>
          <a:bodyPr wrap="square" lIns="0" tIns="0" rIns="0" bIns="0" rtlCol="0" anchor="ctr"/>
          <a:lstStyle/>
          <a:p>
            <a:pPr indent="0" marL="0">
              <a:buNone/>
            </a:pPr>
            <a:r>
              <a:rPr lang="en-US" sz="1400" dirty="0">
                <a:solidFill>
                  <a:schemeClr val="tx1"/>
                </a:solidFill>
              </a:rPr>
              <a:t>Train for 4 epochs</a:t>
            </a:r>
            <a:endParaRPr lang="en-US" sz="1400" dirty="0"/>
          </a:p>
        </p:txBody>
      </p:sp>
      <p:sp>
        <p:nvSpPr>
          <p:cNvPr id="16" name="protocol-2"/>
          <p:cNvSpPr/>
          <p:nvPr/>
        </p:nvSpPr>
        <p:spPr>
          <a:xfrm>
            <a:off x="8549640" y="2743200"/>
            <a:ext cx="457200" cy="457200"/>
          </a:xfrm>
          <a:prstGeom prst="ellipse">
            <a:avLst/>
          </a:prstGeom>
          <a:solidFill>
            <a:schemeClr val="tx2"/>
          </a:solidFill>
          <a:ln w="12700">
            <a:solidFill>
              <a:schemeClr val="tx2"/>
            </a:solidFill>
            <a:prstDash val="solid"/>
          </a:ln>
        </p:spPr>
      </p:sp>
      <p:sp>
        <p:nvSpPr>
          <p:cNvPr id="17" name="Text 15"/>
          <p:cNvSpPr txBox="1"/>
          <p:nvPr/>
        </p:nvSpPr>
        <p:spPr>
          <a:xfrm>
            <a:off x="8549640" y="2743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8" name="Text 16"/>
          <p:cNvSpPr txBox="1"/>
          <p:nvPr/>
        </p:nvSpPr>
        <p:spPr>
          <a:xfrm>
            <a:off x="9144000" y="2697480"/>
            <a:ext cx="2499055" cy="594360"/>
          </a:xfrm>
          <a:prstGeom prst="rect">
            <a:avLst/>
          </a:prstGeom>
          <a:noFill/>
          <a:ln/>
        </p:spPr>
        <p:txBody>
          <a:bodyPr wrap="square" lIns="0" tIns="0" rIns="0" bIns="0" rtlCol="0" anchor="ctr"/>
          <a:lstStyle/>
          <a:p>
            <a:pPr indent="0" marL="0">
              <a:buNone/>
            </a:pPr>
            <a:r>
              <a:rPr lang="en-US" sz="1400" dirty="0">
                <a:solidFill>
                  <a:schemeClr val="tx1"/>
                </a:solidFill>
              </a:rPr>
              <a:t>Keep the epoch with the best validation ROC AUC</a:t>
            </a:r>
            <a:endParaRPr lang="en-US" sz="1400" dirty="0"/>
          </a:p>
        </p:txBody>
      </p:sp>
      <p:sp>
        <p:nvSpPr>
          <p:cNvPr id="19" name="protocol-3"/>
          <p:cNvSpPr/>
          <p:nvPr/>
        </p:nvSpPr>
        <p:spPr>
          <a:xfrm>
            <a:off x="8549640" y="3520440"/>
            <a:ext cx="457200" cy="457200"/>
          </a:xfrm>
          <a:prstGeom prst="ellipse">
            <a:avLst/>
          </a:prstGeom>
          <a:solidFill>
            <a:schemeClr val="tx2"/>
          </a:solidFill>
          <a:ln w="12700">
            <a:solidFill>
              <a:schemeClr val="tx2"/>
            </a:solidFill>
            <a:prstDash val="solid"/>
          </a:ln>
        </p:spPr>
      </p:sp>
      <p:sp>
        <p:nvSpPr>
          <p:cNvPr id="20" name="Text 18"/>
          <p:cNvSpPr txBox="1"/>
          <p:nvPr/>
        </p:nvSpPr>
        <p:spPr>
          <a:xfrm>
            <a:off x="8549640" y="3520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9"/>
          <p:cNvSpPr txBox="1"/>
          <p:nvPr/>
        </p:nvSpPr>
        <p:spPr>
          <a:xfrm>
            <a:off x="9144000" y="3474720"/>
            <a:ext cx="2499055" cy="594360"/>
          </a:xfrm>
          <a:prstGeom prst="rect">
            <a:avLst/>
          </a:prstGeom>
          <a:noFill/>
          <a:ln/>
        </p:spPr>
        <p:txBody>
          <a:bodyPr wrap="square" lIns="0" tIns="0" rIns="0" bIns="0" rtlCol="0" anchor="ctr"/>
          <a:lstStyle/>
          <a:p>
            <a:pPr indent="0" marL="0">
              <a:buNone/>
            </a:pPr>
            <a:r>
              <a:rPr lang="en-US" sz="1400" dirty="0">
                <a:solidFill>
                  <a:schemeClr val="tx1"/>
                </a:solidFill>
              </a:rPr>
              <a:t>Pick the threshold with the best validation F1</a:t>
            </a:r>
            <a:endParaRPr lang="en-US" sz="1400" dirty="0"/>
          </a:p>
        </p:txBody>
      </p:sp>
      <p:sp>
        <p:nvSpPr>
          <p:cNvPr id="22" name="protocol-4"/>
          <p:cNvSpPr/>
          <p:nvPr/>
        </p:nvSpPr>
        <p:spPr>
          <a:xfrm>
            <a:off x="8549640" y="4297680"/>
            <a:ext cx="457200" cy="457200"/>
          </a:xfrm>
          <a:prstGeom prst="ellipse">
            <a:avLst/>
          </a:prstGeom>
          <a:solidFill>
            <a:schemeClr val="tx2"/>
          </a:solidFill>
          <a:ln w="12700">
            <a:solidFill>
              <a:schemeClr val="tx2"/>
            </a:solidFill>
            <a:prstDash val="solid"/>
          </a:ln>
        </p:spPr>
      </p:sp>
      <p:sp>
        <p:nvSpPr>
          <p:cNvPr id="23" name="Text 21"/>
          <p:cNvSpPr txBox="1"/>
          <p:nvPr/>
        </p:nvSpPr>
        <p:spPr>
          <a:xfrm>
            <a:off x="8549640" y="4297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9144000" y="4251960"/>
            <a:ext cx="2499055" cy="594360"/>
          </a:xfrm>
          <a:prstGeom prst="rect">
            <a:avLst/>
          </a:prstGeom>
          <a:noFill/>
          <a:ln/>
        </p:spPr>
        <p:txBody>
          <a:bodyPr wrap="square" lIns="0" tIns="0" rIns="0" bIns="0" rtlCol="0" anchor="ctr"/>
          <a:lstStyle/>
          <a:p>
            <a:pPr indent="0" marL="0">
              <a:buNone/>
            </a:pPr>
            <a:r>
              <a:rPr lang="en-US" sz="1400" dirty="0">
                <a:solidFill>
                  <a:schemeClr val="tx1"/>
                </a:solidFill>
              </a:rPr>
              <a:t>Score the test split once</a:t>
            </a:r>
            <a:endParaRPr lang="en-US" sz="1400" dirty="0"/>
          </a:p>
        </p:txBody>
      </p:sp>
      <p:sp>
        <p:nvSpPr>
          <p:cNvPr id="25" name="Text 23"/>
          <p:cNvSpPr txBox="1"/>
          <p:nvPr/>
        </p:nvSpPr>
        <p:spPr>
          <a:xfrm>
            <a:off x="4343400" y="5349240"/>
            <a:ext cx="7299655" cy="365760"/>
          </a:xfrm>
          <a:prstGeom prst="rect">
            <a:avLst/>
          </a:prstGeom>
          <a:noFill/>
          <a:ln/>
        </p:spPr>
        <p:txBody>
          <a:bodyPr wrap="square" lIns="0" tIns="0" rIns="0" bIns="0" rtlCol="0" anchor="ctr"/>
          <a:lstStyle/>
          <a:p>
            <a:pPr indent="0" marL="0">
              <a:buNone/>
            </a:pPr>
            <a:r>
              <a:rPr lang="en-US" sz="1300" i="1" dirty="0">
                <a:solidFill>
                  <a:schemeClr val="accent4"/>
                </a:solidFill>
              </a:rPr>
              <a:t>Same seed (42), batch 16, learning rate 2e-5, inputs cut at 512 tokens, Apple M3 Pro GPU</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Training: quality and cost</a:t>
            </a:r>
            <a:endParaRPr lang="en-US" sz="3400" dirty="0"/>
          </a:p>
        </p:txBody>
      </p:sp>
      <p:graphicFrame>
        <p:nvGraphicFramePr>
          <p:cNvPr id="3" name="Chart 0" descr=""/>
          <p:cNvGraphicFramePr/>
          <p:nvPr/>
        </p:nvGraphicFramePr>
        <p:xfrm>
          <a:off x="548640" y="1371600"/>
          <a:ext cx="640080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cost"/>
          <p:cNvGraphicFramePr>
            <a:graphicFrameLocks noGrp="1"/>
          </p:cNvGraphicFramePr>
          <p:nvPr>
            <p:extLst>
              <p:ext uri="{D42A27DB-BD31-4B8C-83A1-F6EECF244321}">
                <p14:modId xmlns:p14="http://schemas.microsoft.com/office/powerpoint/2010/main" val="1579011935"/>
              </p:ext>
            </p:extLst>
          </p:nvPr>
        </p:nvGraphicFramePr>
        <p:xfrm>
          <a:off x="7269480" y="1463040"/>
          <a:ext cx="4373575" cy="914400"/>
        </p:xfrm>
        <a:graphic>
          <a:graphicData uri="http://schemas.openxmlformats.org/drawingml/2006/table">
            <a:tbl>
              <a:tblPr/>
              <a:tblGrid>
                <a:gridCol w="1325880"/>
                <a:gridCol w="1143000"/>
                <a:gridCol w="960120"/>
                <a:gridCol w="944575"/>
              </a:tblGrid>
              <a:tr h="0">
                <a:tc>
                  <a:txBody>
                    <a:bodyPr/>
                    <a:lstStyle/>
                    <a:p>
                      <a:pPr algn="l" indent="0" marL="0">
                        <a:buNone/>
                      </a:pP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Primary</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Alternative</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TF-IDF</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r>
              <a:tr h="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Trained numbers</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124,647,170</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769</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100,001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Time</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49 min</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3 min</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2 s</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Hardware</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GPU</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GPU</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CPU</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Test ROC AUC</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0.849</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0.819</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0.871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Test F1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0.222</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0.153</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0.326</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7269480" y="4069080"/>
            <a:ext cx="4373575" cy="1737360"/>
          </a:xfrm>
          <a:prstGeom prst="rect">
            <a:avLst/>
          </a:prstGeom>
          <a:noFill/>
          <a:ln/>
        </p:spPr>
        <p:txBody>
          <a:bodyPr wrap="square" lIns="0" tIns="0" rIns="0" bIns="0" rtlCol="0" anchor="t"/>
          <a:lstStyle/>
          <a:p>
            <a:pPr indent="0" marL="0">
              <a:buNone/>
            </a:pPr>
            <a:r>
              <a:rPr lang="en-US" sz="1500" dirty="0">
                <a:solidFill>
                  <a:schemeClr val="tx1"/>
                </a:solidFill>
              </a:rPr>
              <a:t>The alternative is about 16 times faster but clearly worse: it ranks no better than code length. TF-IDF matches CodeBERT's ranking in 2 seconds on a normal CPU.</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Results on the test split</a:t>
            </a:r>
            <a:endParaRPr lang="en-US" sz="3400" dirty="0"/>
          </a:p>
        </p:txBody>
      </p:sp>
      <p:graphicFrame>
        <p:nvGraphicFramePr>
          <p:cNvPr id="12" name="results"/>
          <p:cNvGraphicFramePr>
            <a:graphicFrameLocks noGrp="1"/>
          </p:cNvGraphicFramePr>
          <p:nvPr>
            <p:extLst>
              <p:ext uri="{D42A27DB-BD31-4B8C-83A1-F6EECF244321}">
                <p14:modId xmlns:p14="http://schemas.microsoft.com/office/powerpoint/2010/main" val="1579011935"/>
              </p:ext>
            </p:extLst>
          </p:nvPr>
        </p:nvGraphicFramePr>
        <p:xfrm>
          <a:off x="548640" y="1417320"/>
          <a:ext cx="7680960" cy="914400"/>
        </p:xfrm>
        <a:graphic>
          <a:graphicData uri="http://schemas.openxmlformats.org/drawingml/2006/table">
            <a:tbl>
              <a:tblPr/>
              <a:tblGrid>
                <a:gridCol w="2971800"/>
                <a:gridCol w="868680"/>
                <a:gridCol w="822960"/>
                <a:gridCol w="731520"/>
                <a:gridCol w="685800"/>
                <a:gridCol w="822960"/>
                <a:gridCol w="777240"/>
              </a:tblGrid>
              <a:tr h="0">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ROC AUC</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Calibri" pitchFamily="34" charset="0"/>
                          <a:ea typeface="Calibri" pitchFamily="34" charset="-122"/>
                          <a:cs typeface="Calibri" pitchFamily="34" charset="-120"/>
                        </a:rPr>
                        <a:t>P1 vs P2</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tx2"/>
                    </a:solidFill>
                  </a:tcPr>
                </a:tc>
              </a:tr>
              <a:tr h="0">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CodeBERT, class-weighted (primary)</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90.5%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0.141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0.525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0.222</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0.849</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tx1"/>
                          </a:solidFill>
                          <a:latin typeface="Calibri" pitchFamily="34" charset="0"/>
                          <a:ea typeface="Calibri" pitchFamily="34" charset="-122"/>
                          <a:cs typeface="Calibri" pitchFamily="34" charset="-120"/>
                        </a:rPr>
                        <a:t>0.470</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CodeBERT, no weights</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92.8%</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0.188</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0.534</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0.278</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0.862</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0.485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CodeBERT, square-root weights</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92.1%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0.145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0.415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0.215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0.851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0.473</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Frozen CodeBERT + LR (alternative)</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86.6%</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0.091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0.466</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0.153</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0.819</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0.460</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TF-IDF + LR</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95.5%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0.268</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0.415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0.326</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0.871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0.505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Code length only</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89.9%</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0.105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0.381</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0.165</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0.807</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0.470</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Always "not vulnerable"</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97.4%</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0.500</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64008" marB="64008">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074920"/>
            <a:ext cx="7680960" cy="777240"/>
          </a:xfrm>
          <a:prstGeom prst="rect">
            <a:avLst/>
          </a:prstGeom>
          <a:noFill/>
          <a:ln/>
        </p:spPr>
        <p:txBody>
          <a:bodyPr wrap="square" lIns="0" tIns="0" rIns="0" bIns="0" rtlCol="0" anchor="ctr"/>
          <a:lstStyle/>
          <a:p>
            <a:pPr indent="0" marL="0">
              <a:buNone/>
            </a:pPr>
            <a:r>
              <a:rPr lang="en-US" sz="1200" i="1" dirty="0">
                <a:solidFill>
                  <a:schemeClr val="accent4"/>
                </a:solidFill>
              </a:rPr>
              <a:t>Test split: 4,547 functions, 118 vulnerable. Threshold from validation (best F1). P1 vs P2 = ROC AUC on vulnerable functions against their own fixed versions.</a:t>
            </a:r>
            <a:endParaRPr lang="en-US" sz="1200" dirty="0"/>
          </a:p>
        </p:txBody>
      </p:sp>
      <p:sp>
        <p:nvSpPr>
          <p:cNvPr id="5" name="panel"/>
          <p:cNvSpPr/>
          <p:nvPr/>
        </p:nvSpPr>
        <p:spPr>
          <a:xfrm>
            <a:off x="8549640" y="1417320"/>
            <a:ext cx="3093415" cy="4434840"/>
          </a:xfrm>
          <a:prstGeom prst="roundRect">
            <a:avLst>
              <a:gd name="adj" fmla="val 3547"/>
            </a:avLst>
          </a:prstGeom>
          <a:solidFill>
            <a:schemeClr val="bg2"/>
          </a:solidFill>
          <a:ln w="12700">
            <a:solidFill>
              <a:schemeClr val="bg2"/>
            </a:solidFill>
            <a:prstDash val="solid"/>
          </a:ln>
        </p:spPr>
      </p:sp>
      <p:sp>
        <p:nvSpPr>
          <p:cNvPr id="6" name="Text 3"/>
          <p:cNvSpPr txBox="1"/>
          <p:nvPr/>
        </p:nvSpPr>
        <p:spPr>
          <a:xfrm>
            <a:off x="8778240" y="1600200"/>
            <a:ext cx="2636215" cy="457200"/>
          </a:xfrm>
          <a:prstGeom prst="rect">
            <a:avLst/>
          </a:prstGeom>
          <a:noFill/>
          <a:ln/>
        </p:spPr>
        <p:txBody>
          <a:bodyPr wrap="square" lIns="0" tIns="0" rIns="0" bIns="0" rtlCol="0" anchor="ctr"/>
          <a:lstStyle/>
          <a:p>
            <a:pPr indent="0" marL="0">
              <a:buNone/>
            </a:pPr>
            <a:r>
              <a:rPr lang="en-US" sz="1800" b="1" dirty="0">
                <a:solidFill>
                  <a:schemeClr val="tx2"/>
                </a:solidFill>
              </a:rPr>
              <a:t>Accuracy ≥ 93%?</a:t>
            </a:r>
            <a:endParaRPr lang="en-US" sz="1800" dirty="0"/>
          </a:p>
        </p:txBody>
      </p:sp>
      <p:sp>
        <p:nvSpPr>
          <p:cNvPr id="7" name="Text 4"/>
          <p:cNvSpPr txBox="1"/>
          <p:nvPr/>
        </p:nvSpPr>
        <p:spPr>
          <a:xfrm>
            <a:off x="8778240" y="2103120"/>
            <a:ext cx="2636215"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90.5%</a:t>
            </a:r>
            <a:endParaRPr lang="en-US" sz="4800" dirty="0"/>
          </a:p>
        </p:txBody>
      </p:sp>
      <p:sp>
        <p:nvSpPr>
          <p:cNvPr id="8" name="Text 5"/>
          <p:cNvSpPr txBox="1"/>
          <p:nvPr/>
        </p:nvSpPr>
        <p:spPr>
          <a:xfrm>
            <a:off x="8778240" y="2971800"/>
            <a:ext cx="2636215" cy="2743200"/>
          </a:xfrm>
          <a:prstGeom prst="rect">
            <a:avLst/>
          </a:prstGeom>
          <a:noFill/>
          <a:ln/>
        </p:spPr>
        <p:txBody>
          <a:bodyPr wrap="square" lIns="0" tIns="0" rIns="0" bIns="0" rtlCol="0" anchor="t"/>
          <a:lstStyle/>
          <a:p>
            <a:pPr indent="0" marL="0">
              <a:buNone/>
            </a:pPr>
            <a:r>
              <a:rPr lang="en-US" sz="1400" dirty="0">
                <a:solidFill>
                  <a:schemeClr val="tx1"/>
                </a:solidFill>
              </a:rPr>
              <a:t>With the paper's threshold rule the model flags 440 test functions and is right 90.5% of the time, below the target. At the default threshold 0.5 it reaches 93.1%, but finds fewer vulnerable functions (recall 0.37 instead of 0.53). Flagging nothing gives 97.4%.</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Class weighting did not help</a:t>
            </a:r>
            <a:endParaRPr lang="en-US" sz="3400" dirty="0"/>
          </a:p>
        </p:txBody>
      </p:sp>
      <p:graphicFrame>
        <p:nvGraphicFramePr>
          <p:cNvPr id="3" name="Chart 0" descr=""/>
          <p:cNvGraphicFramePr/>
          <p:nvPr/>
        </p:nvGraphicFramePr>
        <p:xfrm>
          <a:off x="548640" y="137160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panel"/>
          <p:cNvSpPr/>
          <p:nvPr/>
        </p:nvSpPr>
        <p:spPr>
          <a:xfrm>
            <a:off x="7818120" y="1417320"/>
            <a:ext cx="3824935" cy="4526280"/>
          </a:xfrm>
          <a:prstGeom prst="roundRect">
            <a:avLst>
              <a:gd name="adj" fmla="val 2869"/>
            </a:avLst>
          </a:prstGeom>
          <a:solidFill>
            <a:schemeClr val="bg2"/>
          </a:solidFill>
          <a:ln w="12700">
            <a:solidFill>
              <a:schemeClr val="bg2"/>
            </a:solidFill>
            <a:prstDash val="solid"/>
          </a:ln>
        </p:spPr>
      </p:sp>
      <p:sp>
        <p:nvSpPr>
          <p:cNvPr id="5" name="Text 2"/>
          <p:cNvSpPr txBox="1"/>
          <p:nvPr/>
        </p:nvSpPr>
        <p:spPr>
          <a:xfrm>
            <a:off x="8046720" y="1600200"/>
            <a:ext cx="3367735" cy="4206240"/>
          </a:xfrm>
          <a:prstGeom prst="rect">
            <a:avLst/>
          </a:prstGeom>
          <a:noFill/>
          <a:ln/>
        </p:spPr>
        <p:txBody>
          <a:bodyPr wrap="square" lIns="0" tIns="0" rIns="0" bIns="0" rtlCol="0" anchor="t"/>
          <a:lstStyle/>
          <a:p>
            <a:pPr indent="0" marL="0">
              <a:spcAft>
                <a:spcPts val="1200"/>
              </a:spcAft>
              <a:buNone/>
            </a:pPr>
            <a:r>
              <a:rPr lang="en-US" sz="1500" dirty="0">
                <a:solidFill>
                  <a:schemeClr val="tx1"/>
                </a:solidFill>
              </a:rPr>
              <a:t>Without weights the same model ranks as well: ROC AUC 0.862 against 0.849, a difference inside the noise (-0.028 to +0.003).</a:t>
            </a:r>
            <a:endParaRPr lang="en-US" sz="1500" dirty="0"/>
          </a:p>
          <a:p>
            <a:pPr indent="0" marL="0">
              <a:spcAft>
                <a:spcPts val="1200"/>
              </a:spcAft>
              <a:buNone/>
            </a:pPr>
            <a:r>
              <a:rPr lang="en-US" sz="1500" dirty="0">
                <a:solidFill>
                  <a:schemeClr val="tx1"/>
                </a:solidFill>
              </a:rPr>
              <a:t>Its F1 is clearly higher: 0.278 against 0.222.</a:t>
            </a:r>
            <a:endParaRPr lang="en-US" sz="1500" dirty="0"/>
          </a:p>
          <a:p>
            <a:pPr indent="0" marL="0">
              <a:spcAft>
                <a:spcPts val="1200"/>
              </a:spcAft>
              <a:buNone/>
            </a:pPr>
            <a:r>
              <a:rPr lang="en-US" sz="1500" dirty="0">
                <a:solidFill>
                  <a:schemeClr val="tx1"/>
                </a:solidFill>
              </a:rPr>
              <a:t>The weights only push the scores up: at 0.5 the plain model flags 8 functions, the weighted one 286. With the threshold chosen on validation, as in the paper, that buys nothing.</a:t>
            </a:r>
            <a:endParaRPr lang="en-US" sz="1500" dirty="0"/>
          </a:p>
          <a:p>
            <a:pPr indent="0" marL="0">
              <a:spcAft>
                <a:spcPts val="1200"/>
              </a:spcAft>
              <a:buNone/>
            </a:pPr>
            <a:r>
              <a:rPr lang="en-US" sz="1500" dirty="0">
                <a:solidFill>
                  <a:schemeClr val="tx1"/>
                </a:solidFill>
              </a:rPr>
              <a:t>Milder square-root weights: ROC AUC 0.851, F1 0.215.</a:t>
            </a:r>
            <a:endParaRPr lang="en-US" sz="1500" dirty="0"/>
          </a:p>
          <a:p>
            <a:pPr indent="0" marL="0">
              <a:spcAft>
                <a:spcPts val="1200"/>
              </a:spcAft>
              <a:buNone/>
            </a:pPr>
            <a:r>
              <a:rPr lang="en-US" sz="1500" dirty="0">
                <a:solidFill>
                  <a:schemeClr val="tx1"/>
                </a:solidFill>
              </a:rPr>
              <a:t>Same answer as the paper for its 13B model.</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It finds fix commits, not the bug</a:t>
            </a:r>
            <a:endParaRPr lang="en-US" sz="3400" dirty="0"/>
          </a:p>
        </p:txBody>
      </p:sp>
      <p:graphicFrame>
        <p:nvGraphicFramePr>
          <p:cNvPr id="3" name="Chart 0" descr=""/>
          <p:cNvGraphicFramePr/>
          <p:nvPr/>
        </p:nvGraphicFramePr>
        <p:xfrm>
          <a:off x="548640" y="1371600"/>
          <a:ext cx="5120640" cy="3794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257800"/>
            <a:ext cx="5120640" cy="777240"/>
          </a:xfrm>
          <a:prstGeom prst="rect">
            <a:avLst/>
          </a:prstGeom>
          <a:noFill/>
          <a:ln/>
        </p:spPr>
        <p:txBody>
          <a:bodyPr wrap="square" lIns="0" tIns="0" rIns="0" bIns="0" rtlCol="0" anchor="t"/>
          <a:lstStyle/>
          <a:p>
            <a:pPr indent="0" marL="0">
              <a:buNone/>
            </a:pPr>
            <a:r>
              <a:rPr lang="en-US" sz="1400" dirty="0">
                <a:solidFill>
                  <a:schemeClr val="tx1"/>
                </a:solidFill>
              </a:rPr>
              <a:t>Flagged: 53% of vulnerable functions, 55% of their fixed versions, 7% of untouched code. Vulnerable against fixed: ROC AUC 0.47, which is chance.</a:t>
            </a:r>
            <a:endParaRPr lang="en-US" sz="1400" dirty="0"/>
          </a:p>
        </p:txBody>
      </p:sp>
      <p:graphicFrame>
        <p:nvGraphicFramePr>
          <p:cNvPr id="5" name="Chart 1" descr=""/>
          <p:cNvGraphicFramePr/>
          <p:nvPr/>
        </p:nvGraphicFramePr>
        <p:xfrm>
          <a:off x="6080760" y="1371600"/>
          <a:ext cx="5562295" cy="37947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080760" y="5257800"/>
            <a:ext cx="5562295" cy="777240"/>
          </a:xfrm>
          <a:prstGeom prst="rect">
            <a:avLst/>
          </a:prstGeom>
          <a:noFill/>
          <a:ln/>
        </p:spPr>
        <p:txBody>
          <a:bodyPr wrap="square" lIns="0" tIns="0" rIns="0" bIns="0" rtlCol="0" anchor="t"/>
          <a:lstStyle/>
          <a:p>
            <a:pPr indent="0" marL="0">
              <a:buNone/>
            </a:pPr>
            <a:r>
              <a:rPr lang="en-US" sz="1400" dirty="0">
                <a:solidFill>
                  <a:schemeClr val="tx1"/>
                </a:solidFill>
              </a:rPr>
              <a:t>Reading the top 10% of functions finds 53% of the vulnerable ones, the top 20% finds 72%. Random order would find 10% and 20%.</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What I recommend</a:t>
            </a:r>
            <a:endParaRPr lang="en-US" sz="3400" dirty="0"/>
          </a:p>
        </p:txBody>
      </p:sp>
      <p:sp>
        <p:nvSpPr>
          <p:cNvPr id="3" name="panel"/>
          <p:cNvSpPr/>
          <p:nvPr/>
        </p:nvSpPr>
        <p:spPr>
          <a:xfrm>
            <a:off x="548640" y="1417320"/>
            <a:ext cx="5440680" cy="2103120"/>
          </a:xfrm>
          <a:prstGeom prst="roundRect">
            <a:avLst>
              <a:gd name="adj" fmla="val 5217"/>
            </a:avLst>
          </a:prstGeom>
          <a:solidFill>
            <a:schemeClr val="bg2"/>
          </a:solidFill>
          <a:ln w="12700">
            <a:solidFill>
              <a:schemeClr val="bg2"/>
            </a:solidFill>
            <a:prstDash val="solid"/>
          </a:ln>
        </p:spPr>
      </p:sp>
      <p:sp>
        <p:nvSpPr>
          <p:cNvPr id="4" name="icon-circle"/>
          <p:cNvSpPr/>
          <p:nvPr/>
        </p:nvSpPr>
        <p:spPr>
          <a:xfrm>
            <a:off x="822960" y="1691640"/>
            <a:ext cx="640080" cy="640080"/>
          </a:xfrm>
          <a:prstGeom prst="ellipse">
            <a:avLst/>
          </a:prstGeom>
          <a:solidFill>
            <a:schemeClr val="tx2"/>
          </a:solidFill>
          <a:ln w="12700">
            <a:solidFill>
              <a:schemeClr val="tx2"/>
            </a:solidFill>
            <a:prstDash val="solid"/>
          </a:ln>
        </p:spPr>
      </p:sp>
      <p:pic>
        <p:nvPicPr>
          <p:cNvPr id="5" name="icon" descr="preencoded.png">    </p:cNvPr>
          <p:cNvPicPr>
            <a:picLocks noChangeAspect="1"/>
          </p:cNvPicPr>
          <p:nvPr/>
        </p:nvPicPr>
        <p:blipFill>
          <a:blip r:embed="rId1"/>
          <a:stretch>
            <a:fillRect/>
          </a:stretch>
        </p:blipFill>
        <p:spPr>
          <a:xfrm>
            <a:off x="976579" y="1845259"/>
            <a:ext cx="332842" cy="332842"/>
          </a:xfrm>
          <a:prstGeom prst="rect">
            <a:avLst/>
          </a:prstGeom>
        </p:spPr>
      </p:pic>
      <p:sp>
        <p:nvSpPr>
          <p:cNvPr id="6" name="Text 3"/>
          <p:cNvSpPr txBox="1"/>
          <p:nvPr/>
        </p:nvSpPr>
        <p:spPr>
          <a:xfrm>
            <a:off x="1645920" y="1618488"/>
            <a:ext cx="4114800" cy="17830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Order the review queue, never approve code</a:t>
            </a:r>
            <a:endParaRPr lang="en-US" sz="1700" dirty="0"/>
          </a:p>
          <a:p>
            <a:pPr indent="0" marL="0">
              <a:spcAft>
                <a:spcPts val="400"/>
              </a:spcAft>
              <a:buNone/>
            </a:pPr>
            <a:r>
              <a:rPr lang="en-US" sz="1400" dirty="0">
                <a:solidFill>
                  <a:schemeClr val="tx1"/>
                </a:solidFill>
              </a:rPr>
              <a:t>Reading the top 10% of functions finds about half of the vulnerable ones. The other half is missed.</a:t>
            </a:r>
            <a:endParaRPr lang="en-US" sz="1700" dirty="0"/>
          </a:p>
        </p:txBody>
      </p:sp>
      <p:sp>
        <p:nvSpPr>
          <p:cNvPr id="7" name="panel"/>
          <p:cNvSpPr/>
          <p:nvPr/>
        </p:nvSpPr>
        <p:spPr>
          <a:xfrm>
            <a:off x="6172200" y="1417320"/>
            <a:ext cx="5440680" cy="2103120"/>
          </a:xfrm>
          <a:prstGeom prst="roundRect">
            <a:avLst>
              <a:gd name="adj" fmla="val 5217"/>
            </a:avLst>
          </a:prstGeom>
          <a:solidFill>
            <a:schemeClr val="bg2"/>
          </a:solidFill>
          <a:ln w="12700">
            <a:solidFill>
              <a:schemeClr val="bg2"/>
            </a:solidFill>
            <a:prstDash val="solid"/>
          </a:ln>
        </p:spPr>
      </p:sp>
      <p:sp>
        <p:nvSpPr>
          <p:cNvPr id="8" name="icon-circle"/>
          <p:cNvSpPr/>
          <p:nvPr/>
        </p:nvSpPr>
        <p:spPr>
          <a:xfrm>
            <a:off x="6446520" y="1691640"/>
            <a:ext cx="640080" cy="640080"/>
          </a:xfrm>
          <a:prstGeom prst="ellipse">
            <a:avLst/>
          </a:prstGeom>
          <a:solidFill>
            <a:schemeClr val="tx2"/>
          </a:solidFill>
          <a:ln w="12700">
            <a:solidFill>
              <a:schemeClr val="tx2"/>
            </a:solidFill>
            <a:prstDash val="solid"/>
          </a:ln>
        </p:spPr>
      </p:sp>
      <p:pic>
        <p:nvPicPr>
          <p:cNvPr id="9" name="icon" descr="preencoded.png">    </p:cNvPr>
          <p:cNvPicPr>
            <a:picLocks noChangeAspect="1"/>
          </p:cNvPicPr>
          <p:nvPr/>
        </p:nvPicPr>
        <p:blipFill>
          <a:blip r:embed="rId2"/>
          <a:stretch>
            <a:fillRect/>
          </a:stretch>
        </p:blipFill>
        <p:spPr>
          <a:xfrm>
            <a:off x="6600139" y="1845259"/>
            <a:ext cx="332842" cy="332842"/>
          </a:xfrm>
          <a:prstGeom prst="rect">
            <a:avLst/>
          </a:prstGeom>
        </p:spPr>
      </p:pic>
      <p:sp>
        <p:nvSpPr>
          <p:cNvPr id="10" name="Text 6"/>
          <p:cNvSpPr txBox="1"/>
          <p:nvPr/>
        </p:nvSpPr>
        <p:spPr>
          <a:xfrm>
            <a:off x="7269480" y="1618488"/>
            <a:ext cx="4114800" cy="17830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Measure recall at a review budget</a:t>
            </a:r>
            <a:endParaRPr lang="en-US" sz="1700" dirty="0"/>
          </a:p>
          <a:p>
            <a:pPr indent="0" marL="0">
              <a:spcAft>
                <a:spcPts val="400"/>
              </a:spcAft>
              <a:buNone/>
            </a:pPr>
            <a:r>
              <a:rPr lang="en-US" sz="1400" dirty="0">
                <a:solidFill>
                  <a:schemeClr val="tx1"/>
                </a:solidFill>
              </a:rPr>
              <a:t>At 1 in 35, accuracy rewards flagging nothing. Re-check the threshold on your own code: the same one flagged 6.8% of validation and 9.7% of test.</a:t>
            </a:r>
            <a:endParaRPr lang="en-US" sz="1700" dirty="0"/>
          </a:p>
        </p:txBody>
      </p:sp>
      <p:sp>
        <p:nvSpPr>
          <p:cNvPr id="11" name="panel"/>
          <p:cNvSpPr/>
          <p:nvPr/>
        </p:nvSpPr>
        <p:spPr>
          <a:xfrm>
            <a:off x="548640" y="3703320"/>
            <a:ext cx="5440680" cy="2103120"/>
          </a:xfrm>
          <a:prstGeom prst="roundRect">
            <a:avLst>
              <a:gd name="adj" fmla="val 5217"/>
            </a:avLst>
          </a:prstGeom>
          <a:solidFill>
            <a:schemeClr val="bg2"/>
          </a:solidFill>
          <a:ln w="12700">
            <a:solidFill>
              <a:schemeClr val="bg2"/>
            </a:solidFill>
            <a:prstDash val="solid"/>
          </a:ln>
        </p:spPr>
      </p:sp>
      <p:sp>
        <p:nvSpPr>
          <p:cNvPr id="12" name="icon-circle"/>
          <p:cNvSpPr/>
          <p:nvPr/>
        </p:nvSpPr>
        <p:spPr>
          <a:xfrm>
            <a:off x="822960" y="3977640"/>
            <a:ext cx="640080" cy="640080"/>
          </a:xfrm>
          <a:prstGeom prst="ellipse">
            <a:avLst/>
          </a:prstGeom>
          <a:solidFill>
            <a:schemeClr val="tx2"/>
          </a:solidFill>
          <a:ln w="12700">
            <a:solidFill>
              <a:schemeClr val="tx2"/>
            </a:solidFill>
            <a:prstDash val="solid"/>
          </a:ln>
        </p:spPr>
      </p:sp>
      <p:pic>
        <p:nvPicPr>
          <p:cNvPr id="13" name="icon" descr="preencoded.png">    </p:cNvPr>
          <p:cNvPicPr>
            <a:picLocks noChangeAspect="1"/>
          </p:cNvPicPr>
          <p:nvPr/>
        </p:nvPicPr>
        <p:blipFill>
          <a:blip r:embed="rId3"/>
          <a:stretch>
            <a:fillRect/>
          </a:stretch>
        </p:blipFill>
        <p:spPr>
          <a:xfrm>
            <a:off x="976579" y="4131259"/>
            <a:ext cx="332842" cy="332842"/>
          </a:xfrm>
          <a:prstGeom prst="rect">
            <a:avLst/>
          </a:prstGeom>
        </p:spPr>
      </p:pic>
      <p:sp>
        <p:nvSpPr>
          <p:cNvPr id="14" name="Text 9"/>
          <p:cNvSpPr txBox="1"/>
          <p:nvPr/>
        </p:nvSpPr>
        <p:spPr>
          <a:xfrm>
            <a:off x="1645920" y="3904488"/>
            <a:ext cx="4114800" cy="17830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Tune the threshold, not the loss</a:t>
            </a:r>
            <a:endParaRPr lang="en-US" sz="1700" dirty="0"/>
          </a:p>
          <a:p>
            <a:pPr indent="0" marL="0">
              <a:spcAft>
                <a:spcPts val="400"/>
              </a:spcAft>
              <a:buNone/>
            </a:pPr>
            <a:r>
              <a:rPr lang="en-US" sz="1400" dirty="0">
                <a:solidFill>
                  <a:schemeClr val="tx1"/>
                </a:solidFill>
              </a:rPr>
              <a:t>Class weights only moved where 0.5 falls. Without them CodeBERT was at least as good (F1 0.278 against 0.222).</a:t>
            </a:r>
            <a:endParaRPr lang="en-US" sz="1700" dirty="0"/>
          </a:p>
        </p:txBody>
      </p:sp>
      <p:sp>
        <p:nvSpPr>
          <p:cNvPr id="15" name="panel"/>
          <p:cNvSpPr/>
          <p:nvPr/>
        </p:nvSpPr>
        <p:spPr>
          <a:xfrm>
            <a:off x="6172200" y="3703320"/>
            <a:ext cx="5440680" cy="2103120"/>
          </a:xfrm>
          <a:prstGeom prst="roundRect">
            <a:avLst>
              <a:gd name="adj" fmla="val 5217"/>
            </a:avLst>
          </a:prstGeom>
          <a:solidFill>
            <a:schemeClr val="bg2"/>
          </a:solidFill>
          <a:ln w="12700">
            <a:solidFill>
              <a:schemeClr val="bg2"/>
            </a:solidFill>
            <a:prstDash val="solid"/>
          </a:ln>
        </p:spPr>
      </p:sp>
      <p:sp>
        <p:nvSpPr>
          <p:cNvPr id="16" name="icon-circle"/>
          <p:cNvSpPr/>
          <p:nvPr/>
        </p:nvSpPr>
        <p:spPr>
          <a:xfrm>
            <a:off x="6446520" y="3977640"/>
            <a:ext cx="640080" cy="640080"/>
          </a:xfrm>
          <a:prstGeom prst="ellipse">
            <a:avLst/>
          </a:prstGeom>
          <a:solidFill>
            <a:schemeClr val="tx2"/>
          </a:solidFill>
          <a:ln w="12700">
            <a:solidFill>
              <a:schemeClr val="tx2"/>
            </a:solidFill>
            <a:prstDash val="solid"/>
          </a:ln>
        </p:spPr>
      </p:sp>
      <p:pic>
        <p:nvPicPr>
          <p:cNvPr id="17" name="icon" descr="preencoded.png">    </p:cNvPr>
          <p:cNvPicPr>
            <a:picLocks noChangeAspect="1"/>
          </p:cNvPicPr>
          <p:nvPr/>
        </p:nvPicPr>
        <p:blipFill>
          <a:blip r:embed="rId4"/>
          <a:stretch>
            <a:fillRect/>
          </a:stretch>
        </p:blipFill>
        <p:spPr>
          <a:xfrm>
            <a:off x="6600139" y="4131259"/>
            <a:ext cx="332842" cy="332842"/>
          </a:xfrm>
          <a:prstGeom prst="rect">
            <a:avLst/>
          </a:prstGeom>
        </p:spPr>
      </p:pic>
      <p:sp>
        <p:nvSpPr>
          <p:cNvPr id="18" name="Text 12"/>
          <p:cNvSpPr txBox="1"/>
          <p:nvPr/>
        </p:nvSpPr>
        <p:spPr>
          <a:xfrm>
            <a:off x="7269480" y="3904488"/>
            <a:ext cx="4114800" cy="178308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Fix the data before a bigger model</a:t>
            </a:r>
            <a:endParaRPr lang="en-US" sz="1700" dirty="0"/>
          </a:p>
          <a:p>
            <a:pPr indent="0" marL="0">
              <a:spcAft>
                <a:spcPts val="400"/>
              </a:spcAft>
              <a:buNone/>
            </a:pPr>
            <a:r>
              <a:rPr lang="en-US" sz="1400" dirty="0">
                <a:solidFill>
                  <a:schemeClr val="tx1"/>
                </a:solidFill>
              </a:rPr>
              <a:t>TF-IDF matched CodeBERT in 2 seconds on a CPU. Split by project, review the 41 quarantined rows, read past 512 tokens.</a:t>
            </a: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77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bg1"/>
                </a:solidFill>
              </a:rPr>
              <a:t>Summary and live demo</a:t>
            </a:r>
            <a:endParaRPr lang="en-US" sz="3400" dirty="0"/>
          </a:p>
        </p:txBody>
      </p:sp>
      <p:sp>
        <p:nvSpPr>
          <p:cNvPr id="3" name="Text 1"/>
          <p:cNvSpPr txBox="1"/>
          <p:nvPr/>
        </p:nvSpPr>
        <p:spPr>
          <a:xfrm>
            <a:off x="548640" y="1463040"/>
            <a:ext cx="1828800" cy="731520"/>
          </a:xfrm>
          <a:prstGeom prst="rect">
            <a:avLst/>
          </a:prstGeom>
          <a:noFill/>
          <a:ln/>
        </p:spPr>
        <p:txBody>
          <a:bodyPr wrap="square" lIns="0" tIns="0" rIns="0" bIns="0" rtlCol="0" anchor="ctr"/>
          <a:lstStyle/>
          <a:p>
            <a:pPr indent="0" marL="0">
              <a:buNone/>
            </a:pPr>
            <a:r>
              <a:rPr lang="en-US" sz="1700" b="1" dirty="0">
                <a:solidFill>
                  <a:schemeClr val="bg1"/>
                </a:solidFill>
              </a:rPr>
              <a:t>Reproduced</a:t>
            </a:r>
            <a:endParaRPr lang="en-US" sz="1700" dirty="0"/>
          </a:p>
        </p:txBody>
      </p:sp>
      <p:sp>
        <p:nvSpPr>
          <p:cNvPr id="4" name="Text 2"/>
          <p:cNvSpPr txBox="1"/>
          <p:nvPr/>
        </p:nvSpPr>
        <p:spPr>
          <a:xfrm>
            <a:off x="2468880" y="1463040"/>
            <a:ext cx="5212080" cy="731520"/>
          </a:xfrm>
          <a:prstGeom prst="rect">
            <a:avLst/>
          </a:prstGeom>
          <a:noFill/>
          <a:ln/>
        </p:spPr>
        <p:txBody>
          <a:bodyPr wrap="square" lIns="0" tIns="0" rIns="0" bIns="0" rtlCol="0" anchor="ctr"/>
          <a:lstStyle/>
          <a:p>
            <a:pPr indent="0" marL="0">
              <a:buNone/>
            </a:pPr>
            <a:r>
              <a:rPr lang="en-US" sz="1500" dirty="0">
                <a:solidFill>
                  <a:schemeClr val="bg2"/>
                </a:solidFill>
              </a:rPr>
              <a:t>CodeBERT with class weights: ROC AUC 0.85, F1 0.22, as the paper's CodeBERT-style model</a:t>
            </a:r>
            <a:endParaRPr lang="en-US" sz="1500" dirty="0"/>
          </a:p>
        </p:txBody>
      </p:sp>
      <p:sp>
        <p:nvSpPr>
          <p:cNvPr id="5" name="Text 3"/>
          <p:cNvSpPr txBox="1"/>
          <p:nvPr/>
        </p:nvSpPr>
        <p:spPr>
          <a:xfrm>
            <a:off x="548640" y="2331720"/>
            <a:ext cx="1828800" cy="731520"/>
          </a:xfrm>
          <a:prstGeom prst="rect">
            <a:avLst/>
          </a:prstGeom>
          <a:noFill/>
          <a:ln/>
        </p:spPr>
        <p:txBody>
          <a:bodyPr wrap="square" lIns="0" tIns="0" rIns="0" bIns="0" rtlCol="0" anchor="ctr"/>
          <a:lstStyle/>
          <a:p>
            <a:pPr indent="0" marL="0">
              <a:buNone/>
            </a:pPr>
            <a:r>
              <a:rPr lang="en-US" sz="1700" b="1" dirty="0">
                <a:solidFill>
                  <a:schemeClr val="bg1"/>
                </a:solidFill>
              </a:rPr>
              <a:t>Weights</a:t>
            </a:r>
            <a:endParaRPr lang="en-US" sz="1700" dirty="0"/>
          </a:p>
        </p:txBody>
      </p:sp>
      <p:sp>
        <p:nvSpPr>
          <p:cNvPr id="6" name="Text 4"/>
          <p:cNvSpPr txBox="1"/>
          <p:nvPr/>
        </p:nvSpPr>
        <p:spPr>
          <a:xfrm>
            <a:off x="2468880" y="2331720"/>
            <a:ext cx="5212080" cy="731520"/>
          </a:xfrm>
          <a:prstGeom prst="rect">
            <a:avLst/>
          </a:prstGeom>
          <a:noFill/>
          <a:ln/>
        </p:spPr>
        <p:txBody>
          <a:bodyPr wrap="square" lIns="0" tIns="0" rIns="0" bIns="0" rtlCol="0" anchor="ctr"/>
          <a:lstStyle/>
          <a:p>
            <a:pPr indent="0" marL="0">
              <a:buNone/>
            </a:pPr>
            <a:r>
              <a:rPr lang="en-US" sz="1500" dirty="0">
                <a:solidFill>
                  <a:schemeClr val="bg2"/>
                </a:solidFill>
              </a:rPr>
              <a:t>did not help: without them the same model reached F1 0.28; tune the threshold instead</a:t>
            </a:r>
            <a:endParaRPr lang="en-US" sz="1500" dirty="0"/>
          </a:p>
        </p:txBody>
      </p:sp>
      <p:sp>
        <p:nvSpPr>
          <p:cNvPr id="7" name="Text 5"/>
          <p:cNvSpPr txBox="1"/>
          <p:nvPr/>
        </p:nvSpPr>
        <p:spPr>
          <a:xfrm>
            <a:off x="548640" y="3200400"/>
            <a:ext cx="1828800" cy="731520"/>
          </a:xfrm>
          <a:prstGeom prst="rect">
            <a:avLst/>
          </a:prstGeom>
          <a:noFill/>
          <a:ln/>
        </p:spPr>
        <p:txBody>
          <a:bodyPr wrap="square" lIns="0" tIns="0" rIns="0" bIns="0" rtlCol="0" anchor="ctr"/>
          <a:lstStyle/>
          <a:p>
            <a:pPr indent="0" marL="0">
              <a:buNone/>
            </a:pPr>
            <a:r>
              <a:rPr lang="en-US" sz="1700" b="1" dirty="0">
                <a:solidFill>
                  <a:schemeClr val="bg1"/>
                </a:solidFill>
              </a:rPr>
              <a:t>Limit</a:t>
            </a:r>
            <a:endParaRPr lang="en-US" sz="1700" dirty="0"/>
          </a:p>
        </p:txBody>
      </p:sp>
      <p:sp>
        <p:nvSpPr>
          <p:cNvPr id="8" name="Text 6"/>
          <p:cNvSpPr txBox="1"/>
          <p:nvPr/>
        </p:nvSpPr>
        <p:spPr>
          <a:xfrm>
            <a:off x="2468880" y="3200400"/>
            <a:ext cx="5212080" cy="731520"/>
          </a:xfrm>
          <a:prstGeom prst="rect">
            <a:avLst/>
          </a:prstGeom>
          <a:noFill/>
          <a:ln/>
        </p:spPr>
        <p:txBody>
          <a:bodyPr wrap="square" lIns="0" tIns="0" rIns="0" bIns="0" rtlCol="0" anchor="ctr"/>
          <a:lstStyle/>
          <a:p>
            <a:pPr indent="0" marL="0">
              <a:buNone/>
            </a:pPr>
            <a:r>
              <a:rPr lang="en-US" sz="1500" dirty="0">
                <a:solidFill>
                  <a:schemeClr val="bg2"/>
                </a:solidFill>
              </a:rPr>
              <a:t>no model tells a vulnerable function from its own fix; TF-IDF matches CodeBERT</a:t>
            </a:r>
            <a:endParaRPr lang="en-US" sz="1500" dirty="0"/>
          </a:p>
        </p:txBody>
      </p:sp>
      <p:sp>
        <p:nvSpPr>
          <p:cNvPr id="9" name="Text 7"/>
          <p:cNvSpPr txBox="1"/>
          <p:nvPr/>
        </p:nvSpPr>
        <p:spPr>
          <a:xfrm>
            <a:off x="548640" y="4069080"/>
            <a:ext cx="1828800" cy="731520"/>
          </a:xfrm>
          <a:prstGeom prst="rect">
            <a:avLst/>
          </a:prstGeom>
          <a:noFill/>
          <a:ln/>
        </p:spPr>
        <p:txBody>
          <a:bodyPr wrap="square" lIns="0" tIns="0" rIns="0" bIns="0" rtlCol="0" anchor="ctr"/>
          <a:lstStyle/>
          <a:p>
            <a:pPr indent="0" marL="0">
              <a:buNone/>
            </a:pPr>
            <a:r>
              <a:rPr lang="en-US" sz="1700" b="1" dirty="0">
                <a:solidFill>
                  <a:schemeClr val="bg1"/>
                </a:solidFill>
              </a:rPr>
              <a:t>Use</a:t>
            </a:r>
            <a:endParaRPr lang="en-US" sz="1700" dirty="0"/>
          </a:p>
        </p:txBody>
      </p:sp>
      <p:sp>
        <p:nvSpPr>
          <p:cNvPr id="10" name="Text 8"/>
          <p:cNvSpPr txBox="1"/>
          <p:nvPr/>
        </p:nvSpPr>
        <p:spPr>
          <a:xfrm>
            <a:off x="2468880" y="4069080"/>
            <a:ext cx="5212080" cy="731520"/>
          </a:xfrm>
          <a:prstGeom prst="rect">
            <a:avLst/>
          </a:prstGeom>
          <a:noFill/>
          <a:ln/>
        </p:spPr>
        <p:txBody>
          <a:bodyPr wrap="square" lIns="0" tIns="0" rIns="0" bIns="0" rtlCol="0" anchor="ctr"/>
          <a:lstStyle/>
          <a:p>
            <a:pPr indent="0" marL="0">
              <a:buNone/>
            </a:pPr>
            <a:r>
              <a:rPr lang="en-US" sz="1500" dirty="0">
                <a:solidFill>
                  <a:schemeClr val="bg2"/>
                </a:solidFill>
              </a:rPr>
              <a:t>order the review queue (top 10% finds 53% of vulnerable code), never as a gate</a:t>
            </a:r>
            <a:endParaRPr lang="en-US" sz="1500" dirty="0"/>
          </a:p>
        </p:txBody>
      </p:sp>
      <p:sp>
        <p:nvSpPr>
          <p:cNvPr id="11" name="demo-panel"/>
          <p:cNvSpPr/>
          <p:nvPr/>
        </p:nvSpPr>
        <p:spPr>
          <a:xfrm>
            <a:off x="8001000" y="1463040"/>
            <a:ext cx="3642055" cy="3383280"/>
          </a:xfrm>
          <a:prstGeom prst="roundRect">
            <a:avLst>
              <a:gd name="adj" fmla="val 3243"/>
            </a:avLst>
          </a:prstGeom>
          <a:solidFill>
            <a:schemeClr val="accent1"/>
          </a:solidFill>
          <a:ln w="12700">
            <a:solidFill>
              <a:schemeClr val="accent1"/>
            </a:solidFill>
            <a:prstDash val="solid"/>
          </a:ln>
        </p:spPr>
      </p:sp>
      <p:pic>
        <p:nvPicPr>
          <p:cNvPr id="12" name="demo-icon" descr="preencoded.png">    </p:cNvPr>
          <p:cNvPicPr>
            <a:picLocks noChangeAspect="1"/>
          </p:cNvPicPr>
          <p:nvPr/>
        </p:nvPicPr>
        <p:blipFill>
          <a:blip r:embed="rId1"/>
          <a:stretch>
            <a:fillRect/>
          </a:stretch>
        </p:blipFill>
        <p:spPr>
          <a:xfrm>
            <a:off x="8275320" y="1691640"/>
            <a:ext cx="502920" cy="502920"/>
          </a:xfrm>
          <a:prstGeom prst="rect">
            <a:avLst/>
          </a:prstGeom>
        </p:spPr>
      </p:pic>
      <p:sp>
        <p:nvSpPr>
          <p:cNvPr id="13" name="Text 10"/>
          <p:cNvSpPr txBox="1"/>
          <p:nvPr/>
        </p:nvSpPr>
        <p:spPr>
          <a:xfrm>
            <a:off x="8915400" y="1691640"/>
            <a:ext cx="2560320" cy="502920"/>
          </a:xfrm>
          <a:prstGeom prst="rect">
            <a:avLst/>
          </a:prstGeom>
          <a:noFill/>
          <a:ln/>
        </p:spPr>
        <p:txBody>
          <a:bodyPr wrap="square" lIns="0" tIns="0" rIns="0" bIns="0" rtlCol="0" anchor="ctr"/>
          <a:lstStyle/>
          <a:p>
            <a:pPr indent="0" marL="0">
              <a:buNone/>
            </a:pPr>
            <a:r>
              <a:rPr lang="en-US" sz="2000" b="1" dirty="0">
                <a:solidFill>
                  <a:schemeClr val="bg1"/>
                </a:solidFill>
              </a:rPr>
              <a:t>Live demo</a:t>
            </a:r>
            <a:endParaRPr lang="en-US" sz="2000" dirty="0"/>
          </a:p>
        </p:txBody>
      </p:sp>
      <p:sp>
        <p:nvSpPr>
          <p:cNvPr id="14" name="Text 11"/>
          <p:cNvSpPr txBox="1"/>
          <p:nvPr/>
        </p:nvSpPr>
        <p:spPr>
          <a:xfrm>
            <a:off x="8275320" y="2377440"/>
            <a:ext cx="3093415" cy="4572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python demo.py --sample 2</a:t>
            </a:r>
            <a:endParaRPr lang="en-US" sz="1500" dirty="0"/>
          </a:p>
        </p:txBody>
      </p:sp>
      <p:sp>
        <p:nvSpPr>
          <p:cNvPr id="15" name="Text 12"/>
          <p:cNvSpPr txBox="1"/>
          <p:nvPr/>
        </p:nvSpPr>
        <p:spPr>
          <a:xfrm>
            <a:off x="8275320" y="2926080"/>
            <a:ext cx="3093415" cy="1737360"/>
          </a:xfrm>
          <a:prstGeom prst="rect">
            <a:avLst/>
          </a:prstGeom>
          <a:noFill/>
          <a:ln/>
        </p:spPr>
        <p:txBody>
          <a:bodyPr wrap="square" lIns="0" tIns="0" rIns="0" bIns="0" rtlCol="0" anchor="t"/>
          <a:lstStyle/>
          <a:p>
            <a:pPr indent="0" marL="0">
              <a:buNone/>
            </a:pPr>
            <a:r>
              <a:rPr lang="en-US" sz="1400" dirty="0">
                <a:solidFill>
                  <a:schemeClr val="bg1"/>
                </a:solidFill>
              </a:rPr>
              <a:t>checks the model's SHA-256, then scores a SQL query built by hand, its prepared-statement fix, a getter, and two real test functions from each partition</a:t>
            </a:r>
            <a:endParaRPr lang="en-US" sz="1400" dirty="0"/>
          </a:p>
        </p:txBody>
      </p:sp>
      <p:sp>
        <p:nvSpPr>
          <p:cNvPr id="16" name="Text 13"/>
          <p:cNvSpPr txBox="1"/>
          <p:nvPr/>
        </p:nvSpPr>
        <p:spPr>
          <a:xfrm>
            <a:off x="548640" y="5257800"/>
            <a:ext cx="11094415" cy="365760"/>
          </a:xfrm>
          <a:prstGeom prst="rect">
            <a:avLst/>
          </a:prstGeom>
          <a:noFill/>
          <a:ln/>
        </p:spPr>
        <p:txBody>
          <a:bodyPr wrap="square" lIns="0" tIns="0" rIns="0" bIns="0" rtlCol="0" anchor="ctr"/>
          <a:lstStyle/>
          <a:p>
            <a:pPr indent="0" marL="0">
              <a:buNone/>
            </a:pPr>
            <a:r>
              <a:rPr lang="en-US" sz="1300" i="1" dirty="0">
                <a:solidFill>
                  <a:schemeClr val="bg2"/>
                </a:solidFill>
              </a:rPr>
              <a:t>Code, notebook, report and logs are in the Midterm folder; README.md explains how to run everything</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C2CE"/>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Group 9 Vulnerability Detection">
  <a:themeElements>
    <a:clrScheme name="Group 9 Vulnerability Detection">
      <a:dk1>
        <a:srgbClr val="1B1F24"/>
      </a:dk1>
      <a:lt1>
        <a:srgbClr val="FFFFFF"/>
      </a:lt1>
      <a:dk2>
        <a:srgbClr val="14243B"/>
      </a:dk2>
      <a:lt2>
        <a:srgbClr val="EDF2F8"/>
      </a:lt2>
      <a:accent1>
        <a:srgbClr val="2A78D6"/>
      </a:accent1>
      <a:accent2>
        <a:srgbClr val="EB6834"/>
      </a:accent2>
      <a:accent3>
        <a:srgbClr val="1BAF7A"/>
      </a:accent3>
      <a:accent4>
        <a:srgbClr val="6E7782"/>
      </a:accent4>
      <a:accent5>
        <a:srgbClr val="B8C2CE"/>
      </a:accent5>
      <a:accent6>
        <a:srgbClr val="6250D6"/>
      </a:accent6>
      <a:hlink>
        <a:srgbClr val="2A78D6"/>
      </a:hlink>
      <a:folHlink>
        <a:srgbClr val="6250D6"/>
      </a:folHlink>
    </a:clrScheme>
    <a:fontScheme name="Group 9 Vulnerability Dete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Midterm, Group 9 topic: Java vulnerability detection with CodeBERT</dc:title>
  <dc:subject>PptxGenJS Presentation</dc:subject>
  <dc:creator>Bekzat Saulebay</dc:creator>
  <cp:lastModifiedBy>Bekzat Saulebay</cp:lastModifiedBy>
  <cp:revision>1</cp:revision>
  <dcterms:created xsi:type="dcterms:W3CDTF">2026-10-27T09:53:56Z</dcterms:created>
  <dcterms:modified xsi:type="dcterms:W3CDTF">2026-10-27T09:53:56Z</dcterms:modified>
</cp:coreProperties>
</file>